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3"/>
    <p:sldId id="257" r:id="rId4"/>
    <p:sldId id="258" r:id="rId5"/>
    <p:sldId id="269" r:id="rId6"/>
    <p:sldId id="262" r:id="rId7"/>
    <p:sldId id="276" r:id="rId8"/>
    <p:sldId id="270" r:id="rId9"/>
    <p:sldId id="277" r:id="rId10"/>
    <p:sldId id="261" r:id="rId11"/>
    <p:sldId id="264" r:id="rId12"/>
    <p:sldId id="273" r:id="rId13"/>
    <p:sldId id="274" r:id="rId14"/>
    <p:sldId id="265" r:id="rId15"/>
    <p:sldId id="280" r:id="rId16"/>
    <p:sldId id="281" r:id="rId17"/>
    <p:sldId id="267" r:id="rId18"/>
  </p:sldIdLst>
  <p:sldSz cx="18288000" cy="10287000"/>
  <p:notesSz cx="6858000" cy="9144000"/>
  <p:embeddedFontLst>
    <p:embeddedFont>
      <p:font typeface="Open Sans"/>
      <p:regular r:id="rId23"/>
    </p:embeddedFont>
    <p:embeddedFont>
      <p:font typeface="Calibri" panose="020F0502020204030204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201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044000" y="591608"/>
            <a:ext cx="16200000" cy="1188000"/>
          </a:xfrm>
        </p:spPr>
        <p:txBody>
          <a:bodyPr wrap="square" lIns="0" tIns="0" rIns="0" bIns="0">
            <a:normAutofit/>
          </a:bodyPr>
          <a:lstStyle>
            <a:lvl1pPr algn="ctr" fontAlgn="base">
              <a:defRPr sz="48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2" Type="http://schemas.openxmlformats.org/officeDocument/2006/relationships/slideLayout" Target="../slideLayouts/slideLayout7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5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emf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5334056" y="2635462"/>
            <a:ext cx="7772506" cy="126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895"/>
              </a:lnSpc>
            </a:pPr>
            <a:r>
              <a:rPr lang="en-US" altLang="en-US" sz="4400" b="1">
                <a:solidFill>
                  <a:srgbClr val="003060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Đ</a:t>
            </a:r>
            <a:r>
              <a:rPr lang="en-US" altLang="en-US" sz="4400" b="1">
                <a:solidFill>
                  <a:srgbClr val="003060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Ồ </a:t>
            </a:r>
            <a:r>
              <a:rPr lang="en-US" altLang="en-US" sz="4400" b="1">
                <a:solidFill>
                  <a:srgbClr val="003060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Á</a:t>
            </a:r>
            <a:r>
              <a:rPr lang="en-US" altLang="en-US" sz="4400" b="1">
                <a:solidFill>
                  <a:srgbClr val="003060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N </a:t>
            </a:r>
            <a:r>
              <a:rPr lang="vi-VN" altLang="en-US" sz="4400" b="1">
                <a:solidFill>
                  <a:srgbClr val="003060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CHUYÊN</a:t>
            </a:r>
            <a:r>
              <a:rPr lang="en-US" altLang="en-US" sz="4400" b="1">
                <a:solidFill>
                  <a:srgbClr val="003060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 NG</a:t>
            </a:r>
            <a:r>
              <a:rPr lang="en-US" altLang="en-US" sz="4400" b="1">
                <a:solidFill>
                  <a:srgbClr val="003060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À</a:t>
            </a:r>
            <a:r>
              <a:rPr lang="en-US" altLang="en-US" sz="4400" b="1">
                <a:solidFill>
                  <a:srgbClr val="003060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NH</a:t>
            </a:r>
            <a:endParaRPr lang="en-US" altLang="en-US" sz="4400" b="1">
              <a:solidFill>
                <a:srgbClr val="003060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225040" y="1176655"/>
            <a:ext cx="4589780" cy="825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altLang="en-US" sz="23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TR</a:t>
            </a:r>
            <a:r>
              <a:rPr lang="en-US" altLang="en-US" sz="23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Ư</a:t>
            </a:r>
            <a:r>
              <a:rPr lang="en-US" altLang="en-US" sz="23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ỜNG </a:t>
            </a:r>
            <a:r>
              <a:rPr lang="en-US" altLang="en-US" sz="23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Đ</a:t>
            </a:r>
            <a:r>
              <a:rPr lang="en-US" altLang="en-US" sz="23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ẠI HỌC TR</a:t>
            </a:r>
            <a:r>
              <a:rPr lang="en-US" altLang="en-US" sz="23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À</a:t>
            </a:r>
            <a:r>
              <a:rPr lang="en-US" altLang="en-US" sz="23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 VINH</a:t>
            </a:r>
            <a:endParaRPr lang="en-US" altLang="en-US" sz="2300">
              <a:solidFill>
                <a:srgbClr val="000000"/>
              </a:solidFill>
              <a:latin typeface="Arial" panose="020B0604020202020204" pitchFamily="34" charset="0"/>
              <a:ea typeface="Garet"/>
              <a:cs typeface="Arial" panose="020B0604020202020204" pitchFamily="34" charset="0"/>
              <a:sym typeface="Garet"/>
            </a:endParaRPr>
          </a:p>
          <a:p>
            <a:pPr algn="ctr">
              <a:lnSpc>
                <a:spcPts val="3220"/>
              </a:lnSpc>
            </a:pPr>
            <a:r>
              <a:rPr lang="en-US" altLang="en-US" sz="23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TRA VINH UNIVERSITY</a:t>
            </a:r>
            <a:endParaRPr lang="en-US" altLang="en-US" sz="2300">
              <a:solidFill>
                <a:srgbClr val="000000"/>
              </a:solidFill>
              <a:latin typeface="Arial" panose="020B0604020202020204" pitchFamily="34" charset="0"/>
              <a:ea typeface="Garet"/>
              <a:cs typeface="Arial" panose="020B0604020202020204" pitchFamily="34" charset="0"/>
              <a:sym typeface="Gare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3504932" y="7581814"/>
            <a:ext cx="4108237" cy="86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Giảng viên h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ư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ớng dẫn:</a:t>
            </a: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  <a:ea typeface="Garet"/>
              <a:cs typeface="Arial" panose="020B0604020202020204" pitchFamily="34" charset="0"/>
              <a:sym typeface="Garet"/>
            </a:endParaRPr>
          </a:p>
          <a:p>
            <a:pPr algn="l">
              <a:lnSpc>
                <a:spcPts val="3360"/>
              </a:lnSpc>
            </a:pPr>
            <a:r>
              <a:rPr lang="vi-VN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TS. 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Đ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oàn Ph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ư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ớc Miền</a:t>
            </a: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  <a:ea typeface="Garet"/>
              <a:cs typeface="Arial" panose="020B0604020202020204" pitchFamily="34" charset="0"/>
              <a:sym typeface="Gare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810732" y="7327189"/>
            <a:ext cx="4538058" cy="1723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Sinh viên thực hiện:</a:t>
            </a: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  <a:ea typeface="Garet"/>
              <a:cs typeface="Arial" panose="020B0604020202020204" pitchFamily="34" charset="0"/>
              <a:sym typeface="Garet"/>
            </a:endParaRPr>
          </a:p>
          <a:p>
            <a:pPr algn="l">
              <a:lnSpc>
                <a:spcPts val="3360"/>
              </a:lnSpc>
            </a:pP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Đ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ỗ Thị Kim H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ư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ơng </a:t>
            </a: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  <a:ea typeface="Garet"/>
              <a:cs typeface="Arial" panose="020B0604020202020204" pitchFamily="34" charset="0"/>
              <a:sym typeface="Garet"/>
            </a:endParaRPr>
          </a:p>
          <a:p>
            <a:pPr algn="l">
              <a:lnSpc>
                <a:spcPts val="3360"/>
              </a:lnSpc>
            </a:pP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MSSV: 110122083</a:t>
            </a:r>
            <a:endParaRPr lang="en-US" altLang="en-US" sz="2400">
              <a:solidFill>
                <a:srgbClr val="000000"/>
              </a:solidFill>
              <a:latin typeface="Arial" panose="020B0604020202020204" pitchFamily="34" charset="0"/>
              <a:ea typeface="Garet"/>
              <a:cs typeface="Arial" panose="020B0604020202020204" pitchFamily="34" charset="0"/>
              <a:sym typeface="Garet"/>
            </a:endParaRPr>
          </a:p>
          <a:p>
            <a:pPr algn="l">
              <a:lnSpc>
                <a:spcPts val="3360"/>
              </a:lnSpc>
            </a:pP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  <a:ea typeface="Garet"/>
                <a:cs typeface="Arial" panose="020B0604020202020204" pitchFamily="34" charset="0"/>
                <a:sym typeface="Garet"/>
              </a:rPr>
              <a:t>Lớp: DA22TTD</a:t>
            </a:r>
            <a:endParaRPr lang="vi-VN" altLang="en-US" sz="2400">
              <a:solidFill>
                <a:srgbClr val="000000"/>
              </a:solidFill>
              <a:latin typeface="Arial" panose="020B0604020202020204" pitchFamily="34" charset="0"/>
              <a:ea typeface="Garet"/>
              <a:cs typeface="Arial" panose="020B0604020202020204" pitchFamily="34" charset="0"/>
              <a:sym typeface="Garet"/>
            </a:endParaRPr>
          </a:p>
        </p:txBody>
      </p:sp>
      <p:sp>
        <p:nvSpPr>
          <p:cNvPr id="25" name="Freeform 11"/>
          <p:cNvSpPr/>
          <p:nvPr/>
        </p:nvSpPr>
        <p:spPr>
          <a:xfrm>
            <a:off x="1138555" y="1086485"/>
            <a:ext cx="1035050" cy="1000760"/>
          </a:xfrm>
          <a:custGeom>
            <a:avLst/>
            <a:gdLst/>
            <a:ahLst/>
            <a:cxnLst/>
            <a:rect l="l" t="t" r="r" b="b"/>
            <a:pathLst>
              <a:path w="1609208" h="1363357">
                <a:moveTo>
                  <a:pt x="0" y="0"/>
                </a:moveTo>
                <a:lnTo>
                  <a:pt x="1609208" y="0"/>
                </a:lnTo>
                <a:lnTo>
                  <a:pt x="1609208" y="1363357"/>
                </a:lnTo>
                <a:lnTo>
                  <a:pt x="0" y="1363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6" name="TextBox 15"/>
          <p:cNvSpPr txBox="1"/>
          <p:nvPr/>
        </p:nvSpPr>
        <p:spPr>
          <a:xfrm>
            <a:off x="4298315" y="4152900"/>
            <a:ext cx="9843770" cy="2493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X</a:t>
            </a: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Â</a:t>
            </a: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Y DỰNG WEBSITE </a:t>
            </a:r>
            <a:endParaRPr lang="en-US" altLang="en-US" sz="3600">
              <a:solidFill>
                <a:schemeClr val="tx1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  <a:p>
            <a:pPr algn="ctr">
              <a:lnSpc>
                <a:spcPct val="150000"/>
              </a:lnSpc>
            </a:pP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Đ</a:t>
            </a: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ẶT LỊCH HẸN KH</a:t>
            </a: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Á</a:t>
            </a: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M BỆNH </a:t>
            </a:r>
            <a:endParaRPr lang="en-US" altLang="en-US" sz="3600">
              <a:solidFill>
                <a:schemeClr val="tx1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  <a:p>
            <a:pPr algn="ctr">
              <a:lnSpc>
                <a:spcPct val="150000"/>
              </a:lnSpc>
            </a:pP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TRỰC TUY</a:t>
            </a: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Ê</a:t>
            </a:r>
            <a:r>
              <a:rPr lang="en-US" altLang="en-US" sz="3600">
                <a:solidFill>
                  <a:schemeClr val="tx1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́N BẰNG ASP.NET MVC</a:t>
            </a:r>
            <a:endParaRPr lang="en-US" altLang="en-US" sz="3600">
              <a:solidFill>
                <a:schemeClr val="tx1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  <p:txBody>
          <a:bodyPr/>
          <a:p>
            <a:endParaRPr lang="en-US"/>
          </a:p>
        </p:txBody>
      </p:sp>
      <p:grpSp>
        <p:nvGrpSpPr>
          <p:cNvPr id="4" name="Group 4"/>
          <p:cNvGrpSpPr/>
          <p:nvPr>
            <p:custDataLst>
              <p:tags r:id="rId2"/>
            </p:custDataLst>
          </p:nvPr>
        </p:nvGrpSpPr>
        <p:grpSpPr>
          <a:xfrm rot="0">
            <a:off x="5611577" y="3581741"/>
            <a:ext cx="817854" cy="720378"/>
            <a:chOff x="0" y="0"/>
            <a:chExt cx="215402" cy="189729"/>
          </a:xfrm>
        </p:grpSpPr>
        <p:sp>
          <p:nvSpPr>
            <p:cNvPr id="5" name="Freeform 5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215402" cy="189729"/>
            </a:xfrm>
            <a:custGeom>
              <a:avLst/>
              <a:gdLst/>
              <a:ahLst/>
              <a:cxnLst/>
              <a:rect l="l" t="t" r="r" b="b"/>
              <a:pathLst>
                <a:path w="215402" h="189729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6" name="TextBox 6"/>
            <p:cNvSpPr txBox="1"/>
            <p:nvPr>
              <p:custDataLst>
                <p:tags r:id="rId4"/>
              </p:custDataLst>
            </p:nvPr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FFFFFF"/>
                  </a:solidFill>
                  <a:latin typeface="Calibri" panose="020F0502020204030204" charset="0"/>
                  <a:ea typeface="Garet"/>
                  <a:cs typeface="Calibri" panose="020F0502020204030204" charset="0"/>
                  <a:sym typeface="Garet"/>
                </a:rPr>
                <a:t>01</a:t>
              </a:r>
              <a:endParaRPr lang="en-US" sz="2500" b="1">
                <a:solidFill>
                  <a:srgbClr val="FFFFFF"/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endParaRPr>
            </a:p>
          </p:txBody>
        </p:sp>
      </p:grpSp>
      <p:grpSp>
        <p:nvGrpSpPr>
          <p:cNvPr id="7" name="Group 7"/>
          <p:cNvGrpSpPr/>
          <p:nvPr>
            <p:custDataLst>
              <p:tags r:id="rId5"/>
            </p:custDataLst>
          </p:nvPr>
        </p:nvGrpSpPr>
        <p:grpSpPr>
          <a:xfrm rot="0">
            <a:off x="5611577" y="4412728"/>
            <a:ext cx="817854" cy="720378"/>
            <a:chOff x="0" y="0"/>
            <a:chExt cx="215402" cy="189729"/>
          </a:xfrm>
        </p:grpSpPr>
        <p:sp>
          <p:nvSpPr>
            <p:cNvPr id="8" name="Freeform 8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215402" cy="189729"/>
            </a:xfrm>
            <a:custGeom>
              <a:avLst/>
              <a:gdLst/>
              <a:ahLst/>
              <a:cxnLst/>
              <a:rect l="l" t="t" r="r" b="b"/>
              <a:pathLst>
                <a:path w="215402" h="189729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9" name="TextBox 9"/>
            <p:cNvSpPr txBox="1"/>
            <p:nvPr>
              <p:custDataLst>
                <p:tags r:id="rId7"/>
              </p:custDataLst>
            </p:nvPr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FFFFFF"/>
                  </a:solidFill>
                  <a:latin typeface="Calibri" panose="020F0502020204030204" charset="0"/>
                  <a:ea typeface="Garet"/>
                  <a:cs typeface="Calibri" panose="020F0502020204030204" charset="0"/>
                  <a:sym typeface="Garet"/>
                </a:rPr>
                <a:t>02</a:t>
              </a:r>
              <a:endParaRPr lang="en-US" sz="2500" b="1">
                <a:solidFill>
                  <a:srgbClr val="FFFFFF"/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endParaRPr>
            </a:p>
          </p:txBody>
        </p:sp>
      </p:grpSp>
      <p:grpSp>
        <p:nvGrpSpPr>
          <p:cNvPr id="10" name="Group 10"/>
          <p:cNvGrpSpPr/>
          <p:nvPr>
            <p:custDataLst>
              <p:tags r:id="rId8"/>
            </p:custDataLst>
          </p:nvPr>
        </p:nvGrpSpPr>
        <p:grpSpPr>
          <a:xfrm rot="0">
            <a:off x="5611577" y="5247407"/>
            <a:ext cx="817854" cy="720378"/>
            <a:chOff x="0" y="0"/>
            <a:chExt cx="215402" cy="189729"/>
          </a:xfrm>
        </p:grpSpPr>
        <p:sp>
          <p:nvSpPr>
            <p:cNvPr id="11" name="Freeform 11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215402" cy="189729"/>
            </a:xfrm>
            <a:custGeom>
              <a:avLst/>
              <a:gdLst/>
              <a:ahLst/>
              <a:cxnLst/>
              <a:rect l="l" t="t" r="r" b="b"/>
              <a:pathLst>
                <a:path w="215402" h="189729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2" name="TextBox 12"/>
            <p:cNvSpPr txBox="1"/>
            <p:nvPr>
              <p:custDataLst>
                <p:tags r:id="rId10"/>
              </p:custDataLst>
            </p:nvPr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FFFFFF"/>
                  </a:solidFill>
                  <a:latin typeface="Calibri" panose="020F0502020204030204" charset="0"/>
                  <a:ea typeface="Garet"/>
                  <a:cs typeface="Calibri" panose="020F0502020204030204" charset="0"/>
                  <a:sym typeface="Garet"/>
                </a:rPr>
                <a:t>03</a:t>
              </a:r>
              <a:endParaRPr lang="en-US" sz="2500" b="1">
                <a:solidFill>
                  <a:srgbClr val="FFFFFF"/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endParaRPr>
            </a:p>
          </p:txBody>
        </p:sp>
      </p:grpSp>
      <p:grpSp>
        <p:nvGrpSpPr>
          <p:cNvPr id="13" name="Group 13"/>
          <p:cNvGrpSpPr/>
          <p:nvPr>
            <p:custDataLst>
              <p:tags r:id="rId11"/>
            </p:custDataLst>
          </p:nvPr>
        </p:nvGrpSpPr>
        <p:grpSpPr>
          <a:xfrm rot="0">
            <a:off x="5611577" y="6082085"/>
            <a:ext cx="817854" cy="720378"/>
            <a:chOff x="0" y="0"/>
            <a:chExt cx="215402" cy="189729"/>
          </a:xfrm>
        </p:grpSpPr>
        <p:sp>
          <p:nvSpPr>
            <p:cNvPr id="14" name="Freeform 14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215402" cy="189729"/>
            </a:xfrm>
            <a:custGeom>
              <a:avLst/>
              <a:gdLst/>
              <a:ahLst/>
              <a:cxnLst/>
              <a:rect l="l" t="t" r="r" b="b"/>
              <a:pathLst>
                <a:path w="215402" h="189729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5" name="TextBox 15"/>
            <p:cNvSpPr txBox="1"/>
            <p:nvPr>
              <p:custDataLst>
                <p:tags r:id="rId13"/>
              </p:custDataLst>
            </p:nvPr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FFFFFF"/>
                  </a:solidFill>
                  <a:latin typeface="Calibri" panose="020F0502020204030204" charset="0"/>
                  <a:ea typeface="Garet"/>
                  <a:cs typeface="Calibri" panose="020F0502020204030204" charset="0"/>
                  <a:sym typeface="Garet"/>
                </a:rPr>
                <a:t>04</a:t>
              </a:r>
              <a:endParaRPr lang="en-US" sz="2500" b="1">
                <a:solidFill>
                  <a:srgbClr val="FFFFFF"/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endParaRPr>
            </a:p>
          </p:txBody>
        </p:sp>
      </p:grpSp>
      <p:grpSp>
        <p:nvGrpSpPr>
          <p:cNvPr id="16" name="Group 16"/>
          <p:cNvGrpSpPr/>
          <p:nvPr>
            <p:custDataLst>
              <p:tags r:id="rId14"/>
            </p:custDataLst>
          </p:nvPr>
        </p:nvGrpSpPr>
        <p:grpSpPr>
          <a:xfrm rot="0">
            <a:off x="5611577" y="6916763"/>
            <a:ext cx="817854" cy="720378"/>
            <a:chOff x="0" y="0"/>
            <a:chExt cx="215402" cy="189729"/>
          </a:xfrm>
        </p:grpSpPr>
        <p:sp>
          <p:nvSpPr>
            <p:cNvPr id="17" name="Freeform 17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215402" cy="189729"/>
            </a:xfrm>
            <a:custGeom>
              <a:avLst/>
              <a:gdLst/>
              <a:ahLst/>
              <a:cxnLst/>
              <a:rect l="l" t="t" r="r" b="b"/>
              <a:pathLst>
                <a:path w="215402" h="189729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8" name="TextBox 18"/>
            <p:cNvSpPr txBox="1"/>
            <p:nvPr>
              <p:custDataLst>
                <p:tags r:id="rId16"/>
              </p:custDataLst>
            </p:nvPr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  <a:r>
                <a:rPr lang="en-US" sz="2500" b="1">
                  <a:solidFill>
                    <a:srgbClr val="FFFFFF"/>
                  </a:solidFill>
                  <a:latin typeface="Calibri" panose="020F0502020204030204" charset="0"/>
                  <a:ea typeface="Garet"/>
                  <a:cs typeface="Calibri" panose="020F0502020204030204" charset="0"/>
                  <a:sym typeface="Garet"/>
                </a:rPr>
                <a:t>05</a:t>
              </a:r>
              <a:endParaRPr lang="en-US" sz="2500" b="1">
                <a:solidFill>
                  <a:srgbClr val="FFFFFF"/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endParaRP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611495" y="2405380"/>
            <a:ext cx="7281545" cy="833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altLang="en-US" sz="6700" b="1">
                <a:solidFill>
                  <a:srgbClr val="003060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Nội dung </a:t>
            </a:r>
            <a:r>
              <a:rPr lang="en-US" altLang="en-US" sz="6700" b="1">
                <a:solidFill>
                  <a:srgbClr val="003060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đ</a:t>
            </a:r>
            <a:r>
              <a:rPr lang="en-US" altLang="en-US" sz="6700" b="1">
                <a:solidFill>
                  <a:srgbClr val="003060"/>
                </a:solidFill>
                <a:latin typeface="Arial" panose="020B0604020202020204" pitchFamily="34" charset="0"/>
                <a:ea typeface="Garet Bold"/>
                <a:cs typeface="Arial" panose="020B0604020202020204" pitchFamily="34" charset="0"/>
                <a:sym typeface="Garet Bold"/>
              </a:rPr>
              <a:t>ồ án</a:t>
            </a:r>
            <a:endParaRPr lang="en-US" altLang="en-US" sz="6700" b="1">
              <a:solidFill>
                <a:srgbClr val="003060"/>
              </a:solidFill>
              <a:latin typeface="Arial" panose="020B0604020202020204" pitchFamily="34" charset="0"/>
              <a:ea typeface="Garet Bold"/>
              <a:cs typeface="Arial" panose="020B0604020202020204" pitchFamily="34" charset="0"/>
              <a:sym typeface="Garet Bold"/>
            </a:endParaRPr>
          </a:p>
        </p:txBody>
      </p:sp>
      <p:sp>
        <p:nvSpPr>
          <p:cNvPr id="42" name="TextBox 42"/>
          <p:cNvSpPr txBox="1"/>
          <p:nvPr>
            <p:custDataLst>
              <p:tags r:id="rId17"/>
            </p:custDataLst>
          </p:nvPr>
        </p:nvSpPr>
        <p:spPr>
          <a:xfrm>
            <a:off x="6629400" y="3560445"/>
            <a:ext cx="6960235" cy="645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2800">
                <a:solidFill>
                  <a:srgbClr val="272626"/>
                </a:solidFill>
                <a:latin typeface="Arial" panose="020B0604020202020204" pitchFamily="34" charset="0"/>
                <a:ea typeface="Asap" panose="020F0504030202060203"/>
                <a:cs typeface="Arial" panose="020B0604020202020204" pitchFamily="34" charset="0"/>
                <a:sym typeface="Asap" panose="020F0504030202060203"/>
              </a:rPr>
              <a:t>Lý do chọn đề tài, mục tiêu nghiên cứu.</a:t>
            </a:r>
            <a:endParaRPr lang="en-US" sz="2800">
              <a:solidFill>
                <a:srgbClr val="272626"/>
              </a:solidFill>
              <a:latin typeface="Arial" panose="020B0604020202020204" pitchFamily="34" charset="0"/>
              <a:ea typeface="Asap" panose="020F0504030202060203"/>
              <a:cs typeface="Arial" panose="020B0604020202020204" pitchFamily="34" charset="0"/>
              <a:sym typeface="Asap" panose="020F0504030202060203"/>
            </a:endParaRPr>
          </a:p>
        </p:txBody>
      </p:sp>
      <p:sp>
        <p:nvSpPr>
          <p:cNvPr id="43" name="TextBox 43"/>
          <p:cNvSpPr txBox="1"/>
          <p:nvPr>
            <p:custDataLst>
              <p:tags r:id="rId18"/>
            </p:custDataLst>
          </p:nvPr>
        </p:nvSpPr>
        <p:spPr>
          <a:xfrm>
            <a:off x="6629099" y="4395728"/>
            <a:ext cx="2929069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2800">
                <a:solidFill>
                  <a:srgbClr val="272626"/>
                </a:solidFill>
                <a:latin typeface="Arial" panose="020B0604020202020204" pitchFamily="34" charset="0"/>
                <a:ea typeface="Asap" panose="020F0504030202060203"/>
                <a:cs typeface="Arial" panose="020B0604020202020204" pitchFamily="34" charset="0"/>
                <a:sym typeface="Asap" panose="020F0504030202060203"/>
              </a:rPr>
              <a:t>Cơ sở lý thuyết</a:t>
            </a:r>
            <a:endParaRPr lang="en-US" sz="2800">
              <a:solidFill>
                <a:srgbClr val="272626"/>
              </a:solidFill>
              <a:latin typeface="Arial" panose="020B0604020202020204" pitchFamily="34" charset="0"/>
              <a:ea typeface="Asap" panose="020F0504030202060203"/>
              <a:cs typeface="Arial" panose="020B0604020202020204" pitchFamily="34" charset="0"/>
              <a:sym typeface="Asap" panose="020F0504030202060203"/>
            </a:endParaRPr>
          </a:p>
        </p:txBody>
      </p:sp>
      <p:sp>
        <p:nvSpPr>
          <p:cNvPr id="44" name="TextBox 44"/>
          <p:cNvSpPr txBox="1"/>
          <p:nvPr>
            <p:custDataLst>
              <p:tags r:id="rId19"/>
            </p:custDataLst>
          </p:nvPr>
        </p:nvSpPr>
        <p:spPr>
          <a:xfrm>
            <a:off x="6629400" y="5426710"/>
            <a:ext cx="5035550" cy="448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800">
                <a:solidFill>
                  <a:srgbClr val="272626"/>
                </a:solidFill>
                <a:latin typeface="Arial" panose="020B0604020202020204" pitchFamily="34" charset="0"/>
                <a:ea typeface="Asap" panose="020F0504030202060203"/>
                <a:cs typeface="Arial" panose="020B0604020202020204" pitchFamily="34" charset="0"/>
                <a:sym typeface="Asap" panose="020F0504030202060203"/>
              </a:rPr>
              <a:t>Phân tích và thiết kế hệ thống</a:t>
            </a:r>
            <a:endParaRPr lang="en-US" sz="2800">
              <a:solidFill>
                <a:srgbClr val="272626"/>
              </a:solidFill>
              <a:latin typeface="Arial" panose="020B0604020202020204" pitchFamily="34" charset="0"/>
              <a:ea typeface="Asap" panose="020F0504030202060203"/>
              <a:cs typeface="Arial" panose="020B0604020202020204" pitchFamily="34" charset="0"/>
              <a:sym typeface="Asap" panose="020F0504030202060203"/>
            </a:endParaRPr>
          </a:p>
        </p:txBody>
      </p:sp>
      <p:sp>
        <p:nvSpPr>
          <p:cNvPr id="45" name="TextBox 45"/>
          <p:cNvSpPr txBox="1"/>
          <p:nvPr>
            <p:custDataLst>
              <p:tags r:id="rId20"/>
            </p:custDataLst>
          </p:nvPr>
        </p:nvSpPr>
        <p:spPr>
          <a:xfrm>
            <a:off x="6604969" y="6054289"/>
            <a:ext cx="2929069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040"/>
              </a:lnSpc>
              <a:spcBef>
                <a:spcPct val="0"/>
              </a:spcBef>
            </a:pPr>
            <a:r>
              <a:rPr lang="en-US" sz="2800">
                <a:solidFill>
                  <a:srgbClr val="272626"/>
                </a:solidFill>
                <a:latin typeface="Arial" panose="020B0604020202020204" pitchFamily="34" charset="0"/>
                <a:ea typeface="Asap" panose="020F0504030202060203"/>
                <a:cs typeface="Arial" panose="020B0604020202020204" pitchFamily="34" charset="0"/>
                <a:sym typeface="Asap" panose="020F0504030202060203"/>
              </a:rPr>
              <a:t>Kết quả đạt được</a:t>
            </a:r>
            <a:endParaRPr lang="en-US" sz="2800">
              <a:solidFill>
                <a:srgbClr val="272626"/>
              </a:solidFill>
              <a:latin typeface="Arial" panose="020B0604020202020204" pitchFamily="34" charset="0"/>
              <a:ea typeface="Asap" panose="020F0504030202060203"/>
              <a:cs typeface="Arial" panose="020B0604020202020204" pitchFamily="34" charset="0"/>
              <a:sym typeface="Asap" panose="020F0504030202060203"/>
            </a:endParaRPr>
          </a:p>
        </p:txBody>
      </p:sp>
      <p:sp>
        <p:nvSpPr>
          <p:cNvPr id="46" name="TextBox 46"/>
          <p:cNvSpPr txBox="1"/>
          <p:nvPr>
            <p:custDataLst>
              <p:tags r:id="rId21"/>
            </p:custDataLst>
          </p:nvPr>
        </p:nvSpPr>
        <p:spPr>
          <a:xfrm>
            <a:off x="6604334" y="6972153"/>
            <a:ext cx="2929069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800">
                <a:solidFill>
                  <a:srgbClr val="272626"/>
                </a:solidFill>
                <a:latin typeface="Arial" panose="020B0604020202020204" pitchFamily="34" charset="0"/>
                <a:ea typeface="Asap" panose="020F0504030202060203"/>
                <a:cs typeface="Arial" panose="020B0604020202020204" pitchFamily="34" charset="0"/>
                <a:sym typeface="Asap" panose="020F0504030202060203"/>
              </a:rPr>
              <a:t>Kết luận</a:t>
            </a:r>
            <a:endParaRPr lang="en-US" sz="2800">
              <a:solidFill>
                <a:srgbClr val="272626"/>
              </a:solidFill>
              <a:latin typeface="Arial" panose="020B0604020202020204" pitchFamily="34" charset="0"/>
              <a:ea typeface="Asap" panose="020F0504030202060203"/>
              <a:cs typeface="Arial" panose="020B0604020202020204" pitchFamily="34" charset="0"/>
              <a:sym typeface="Asap" panose="020F0504030202060203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581400" y="1257300"/>
            <a:ext cx="11080115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1.</a:t>
            </a:r>
            <a:r>
              <a:rPr lang="vi-VN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 </a:t>
            </a:r>
            <a:r>
              <a:rPr lang="en-US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Lý do chọn đề tài</a:t>
            </a:r>
            <a:r>
              <a:rPr lang="vi-VN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, m</a:t>
            </a:r>
            <a:r>
              <a:rPr lang="en-US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ục tiêu nghiên cứu</a:t>
            </a:r>
            <a:endParaRPr lang="en-US" altLang="en-US" sz="4000" b="1">
              <a:solidFill>
                <a:srgbClr val="272626"/>
              </a:solidFill>
              <a:latin typeface="Arial" panose="020B0604020202020204" pitchFamily="34" charset="0"/>
              <a:ea typeface="Sriracha" panose="00000500000000000000"/>
              <a:cs typeface="Arial" panose="020B0604020202020204" pitchFamily="34" charset="0"/>
              <a:sym typeface="Sriracha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24000" y="2927350"/>
            <a:ext cx="15518130" cy="443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altLang="en-US" sz="3200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Lí do chọn đề tài</a:t>
            </a:r>
            <a:endParaRPr lang="en-US" altLang="en-US" sz="320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Đ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ề tài h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ư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ớng tới xây dựng website 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đ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ặt lịch hẹn khám bệnh trực tuyến nhằm khắc phục hạn chế của hình thức khám truyền thống, giúp bệnh nhân chủ 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đ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ộng thời gian, giảm chờ 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đ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ợi và nâng cao trải nghiệm. Website 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đ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ồng thời hỗ trợ cơ sở y tế quản l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ý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lịch khám hiệu quả, nâng cao chất l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ư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ợng dịch vụ và hình ảnh chuyên nghiệp, phù hợp xu h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ư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ớng chuyển 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đ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ổi số y tế hiện nay.</a:t>
            </a:r>
            <a:endParaRPr lang="en-US" altLang="en-US" sz="320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581400" y="1257300"/>
            <a:ext cx="11080115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1.</a:t>
            </a:r>
            <a:r>
              <a:rPr lang="vi-VN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 </a:t>
            </a:r>
            <a:r>
              <a:rPr lang="en-US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Lý do chọn đề tài</a:t>
            </a:r>
            <a:r>
              <a:rPr lang="vi-VN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, m</a:t>
            </a:r>
            <a:r>
              <a:rPr lang="en-US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ục tiêu nghiên cứu</a:t>
            </a:r>
            <a:endParaRPr lang="en-US" altLang="en-US" sz="4000" b="1">
              <a:solidFill>
                <a:srgbClr val="272626"/>
              </a:solidFill>
              <a:latin typeface="Arial" panose="020B0604020202020204" pitchFamily="34" charset="0"/>
              <a:ea typeface="Sriracha" panose="00000500000000000000"/>
              <a:cs typeface="Arial" panose="020B0604020202020204" pitchFamily="34" charset="0"/>
              <a:sym typeface="Sriracha" panose="0000050000000000000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57375" y="2927350"/>
            <a:ext cx="14528165" cy="443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vi-VN" altLang="en-US" sz="32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M</a:t>
            </a:r>
            <a:r>
              <a:rPr lang="en-US" altLang="en-US" sz="32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ục tiêu nghiên cứu</a:t>
            </a:r>
            <a:endParaRPr lang="en-US" altLang="en-US" sz="320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  <a:p>
            <a:pPr indent="457200" algn="just">
              <a:lnSpc>
                <a:spcPct val="150000"/>
              </a:lnSpc>
            </a:pP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Mục tiêu của 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đ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ề tài là áp dụng kiến thức phát triển web bằng ASP.NET MVC kết hợp HTML, CSS, JavaScript, Bootstrap và SQL Server; nghiên cứu nhu cầu ng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ư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ời dùng; phân tích quy trình hoạt 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đ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ộng của cơ sở y tế; từ 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đ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ó xây dựng website 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đ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ặt lịch khám tiện lợi cho bệnh nhân và hỗ trợ quản l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ý</a:t>
            </a:r>
            <a:r>
              <a:rPr lang="en-US" altLang="en-US" sz="3200">
                <a:solidFill>
                  <a:srgbClr val="000000"/>
                </a:solidFill>
                <a:latin typeface="Arial" panose="020B0604020202020204" pitchFamily="34" charset="0"/>
                <a:ea typeface="Open Sans"/>
                <a:cs typeface="Arial" panose="020B0604020202020204" pitchFamily="34" charset="0"/>
                <a:sym typeface="Open Sans"/>
              </a:rPr>
              <a:t> lịch hiệu quả cho nhân viên y tế.</a:t>
            </a:r>
            <a:endParaRPr lang="en-US" altLang="en-US" sz="3200">
              <a:solidFill>
                <a:srgbClr val="000000"/>
              </a:solidFill>
              <a:latin typeface="Arial" panose="020B0604020202020204" pitchFamily="34" charset="0"/>
              <a:ea typeface="Open Sans"/>
              <a:cs typeface="Arial" panose="020B0604020202020204" pitchFamily="34" charset="0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pull/>
      </p:transition>
    </mc:Choice>
    <mc:Fallback>
      <p:transition spd="med">
        <p:pull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</p:sp>
      <p:sp>
        <p:nvSpPr>
          <p:cNvPr id="37" name="TextBox 37"/>
          <p:cNvSpPr txBox="1"/>
          <p:nvPr>
            <p:custDataLst>
              <p:tags r:id="rId2"/>
            </p:custDataLst>
          </p:nvPr>
        </p:nvSpPr>
        <p:spPr>
          <a:xfrm>
            <a:off x="3429000" y="2188845"/>
            <a:ext cx="4860290" cy="5909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🔧</a:t>
            </a:r>
            <a:r>
              <a:rPr lang="en-US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 </a:t>
            </a:r>
            <a:r>
              <a:rPr lang="vi-VN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 </a:t>
            </a:r>
            <a:r>
              <a:rPr lang="en-US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Công nghệ phát triển</a:t>
            </a:r>
            <a:endParaRPr lang="en-US" altLang="en-US" sz="3200">
              <a:solidFill>
                <a:srgbClr val="003060"/>
              </a:solidFill>
              <a:latin typeface="Calibri" panose="020F0502020204030204" charset="0"/>
              <a:ea typeface="Garet Bold"/>
              <a:cs typeface="Calibri" panose="020F0502020204030204" charset="0"/>
              <a:sym typeface="Garet Bold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ASP.NET MVC    </a:t>
            </a:r>
            <a:endParaRPr lang="en-US" altLang="en-US" sz="3200">
              <a:solidFill>
                <a:srgbClr val="003060"/>
              </a:solidFill>
              <a:latin typeface="Calibri" panose="020F0502020204030204" charset="0"/>
              <a:ea typeface="Garet Bold"/>
              <a:cs typeface="Calibri" panose="020F0502020204030204" charset="0"/>
              <a:sym typeface="Garet Bold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C#</a:t>
            </a:r>
            <a:endParaRPr lang="en-US" altLang="en-US" sz="3200">
              <a:solidFill>
                <a:srgbClr val="003060"/>
              </a:solidFill>
              <a:latin typeface="Calibri" panose="020F0502020204030204" charset="0"/>
              <a:ea typeface="Garet Bold"/>
              <a:cs typeface="Calibri" panose="020F0502020204030204" charset="0"/>
              <a:sym typeface="Garet Bold"/>
            </a:endParaRPr>
          </a:p>
          <a:p>
            <a:pPr algn="l">
              <a:lnSpc>
                <a:spcPct val="150000"/>
              </a:lnSpc>
            </a:pPr>
            <a:r>
              <a:rPr lang="zh-CN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🎨</a:t>
            </a:r>
            <a:r>
              <a:rPr lang="en-US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 </a:t>
            </a:r>
            <a:r>
              <a:rPr lang="vi-VN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 </a:t>
            </a:r>
            <a:r>
              <a:rPr lang="en-US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Giao diện ng</a:t>
            </a:r>
            <a:r>
              <a:rPr lang="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ư</a:t>
            </a:r>
            <a:r>
              <a:rPr lang="en-US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ời dùng</a:t>
            </a:r>
            <a:endParaRPr lang="en-US" altLang="en-US" sz="3200">
              <a:solidFill>
                <a:srgbClr val="003060"/>
              </a:solidFill>
              <a:latin typeface="Calibri" panose="020F0502020204030204" charset="0"/>
              <a:ea typeface="Garet Bold"/>
              <a:cs typeface="Calibri" panose="020F0502020204030204" charset="0"/>
              <a:sym typeface="Garet Bold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HTML</a:t>
            </a:r>
            <a:endParaRPr lang="en-US" altLang="en-US" sz="3200">
              <a:solidFill>
                <a:srgbClr val="003060"/>
              </a:solidFill>
              <a:latin typeface="Calibri" panose="020F0502020204030204" charset="0"/>
              <a:ea typeface="Garet Bold"/>
              <a:cs typeface="Calibri" panose="020F0502020204030204" charset="0"/>
              <a:sym typeface="Garet Bold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CSS   </a:t>
            </a:r>
            <a:endParaRPr lang="en-US" altLang="en-US" sz="3200">
              <a:solidFill>
                <a:srgbClr val="003060"/>
              </a:solidFill>
              <a:latin typeface="Calibri" panose="020F0502020204030204" charset="0"/>
              <a:ea typeface="Garet Bold"/>
              <a:cs typeface="Calibri" panose="020F0502020204030204" charset="0"/>
              <a:sym typeface="Garet Bold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JavaScript    </a:t>
            </a:r>
            <a:endParaRPr lang="en-US" altLang="en-US" sz="3200">
              <a:solidFill>
                <a:srgbClr val="003060"/>
              </a:solidFill>
              <a:latin typeface="Calibri" panose="020F0502020204030204" charset="0"/>
              <a:ea typeface="Garet Bold"/>
              <a:cs typeface="Calibri" panose="020F0502020204030204" charset="0"/>
              <a:sym typeface="Garet Bold"/>
            </a:endParaRPr>
          </a:p>
          <a:p>
            <a:pPr indent="457200" algn="l">
              <a:lnSpc>
                <a:spcPct val="150000"/>
              </a:lnSpc>
            </a:pPr>
            <a:r>
              <a:rPr lang="en-US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Bootstrap</a:t>
            </a:r>
            <a:endParaRPr lang="en-US" altLang="en-US" sz="3200">
              <a:solidFill>
                <a:srgbClr val="003060"/>
              </a:solidFill>
              <a:latin typeface="Calibri" panose="020F0502020204030204" charset="0"/>
              <a:ea typeface="Garet Bold"/>
              <a:cs typeface="Calibri" panose="020F0502020204030204" charset="0"/>
              <a:sym typeface="Garet Bold"/>
            </a:endParaRPr>
          </a:p>
        </p:txBody>
      </p:sp>
      <p:sp>
        <p:nvSpPr>
          <p:cNvPr id="43" name="TextBox 17"/>
          <p:cNvSpPr txBox="1"/>
          <p:nvPr/>
        </p:nvSpPr>
        <p:spPr>
          <a:xfrm>
            <a:off x="3581400" y="571500"/>
            <a:ext cx="11080115" cy="10769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vi-VN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2</a:t>
            </a:r>
            <a:r>
              <a:rPr lang="en-US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.</a:t>
            </a:r>
            <a:r>
              <a:rPr lang="vi-VN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 </a:t>
            </a:r>
            <a:r>
              <a:rPr lang="en-US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Cơ sở l</a:t>
            </a:r>
            <a:r>
              <a:rPr lang="en-US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ý</a:t>
            </a:r>
            <a:r>
              <a:rPr lang="en-US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 thuyế</a:t>
            </a:r>
            <a:r>
              <a:rPr lang="vi-VN" altLang="en-US" sz="4000" b="1">
                <a:solidFill>
                  <a:srgbClr val="272626"/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t</a:t>
            </a:r>
            <a:endParaRPr lang="vi-VN" altLang="en-US" sz="4000" b="1">
              <a:solidFill>
                <a:srgbClr val="272626"/>
              </a:solidFill>
              <a:latin typeface="Arial" panose="020B0604020202020204" pitchFamily="34" charset="0"/>
              <a:ea typeface="Sriracha" panose="00000500000000000000"/>
              <a:cs typeface="Arial" panose="020B0604020202020204" pitchFamily="34" charset="0"/>
              <a:sym typeface="Sriracha" panose="00000500000000000000"/>
            </a:endParaRPr>
          </a:p>
        </p:txBody>
      </p:sp>
      <p:sp>
        <p:nvSpPr>
          <p:cNvPr id="44" name="Text Box 43"/>
          <p:cNvSpPr txBox="1"/>
          <p:nvPr/>
        </p:nvSpPr>
        <p:spPr>
          <a:xfrm>
            <a:off x="-40815895" y="1722945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45" name="Text Box 44"/>
          <p:cNvSpPr txBox="1"/>
          <p:nvPr/>
        </p:nvSpPr>
        <p:spPr>
          <a:xfrm>
            <a:off x="-84600415" y="1537208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46" name="Text Box 45"/>
          <p:cNvSpPr txBox="1"/>
          <p:nvPr/>
        </p:nvSpPr>
        <p:spPr>
          <a:xfrm>
            <a:off x="-128384935" y="15372080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47" name="Text Box 46"/>
          <p:cNvSpPr txBox="1"/>
          <p:nvPr/>
        </p:nvSpPr>
        <p:spPr>
          <a:xfrm>
            <a:off x="-157909895" y="1685607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48" name="Text Box 47"/>
          <p:cNvSpPr txBox="1"/>
          <p:nvPr/>
        </p:nvSpPr>
        <p:spPr>
          <a:xfrm>
            <a:off x="-187434855" y="16856075"/>
            <a:ext cx="6096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3" name="TextBox 37"/>
          <p:cNvSpPr txBox="1"/>
          <p:nvPr>
            <p:custDataLst>
              <p:tags r:id="rId3"/>
            </p:custDataLst>
          </p:nvPr>
        </p:nvSpPr>
        <p:spPr>
          <a:xfrm>
            <a:off x="9982200" y="2188845"/>
            <a:ext cx="4571365" cy="14770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🗄</a:t>
            </a:r>
            <a:r>
              <a:rPr lang="vi-VN" altLang="zh-CN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 </a:t>
            </a:r>
            <a:r>
              <a:rPr lang="en-US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Cơ sở dữ liệu</a:t>
            </a:r>
            <a:endParaRPr lang="en-US" altLang="en-US" sz="3200">
              <a:solidFill>
                <a:srgbClr val="003060"/>
              </a:solidFill>
              <a:latin typeface="Calibri" panose="020F0502020204030204" charset="0"/>
              <a:ea typeface="Garet Bold"/>
              <a:cs typeface="Calibri" panose="020F0502020204030204" charset="0"/>
              <a:sym typeface="Garet Bold"/>
            </a:endParaRPr>
          </a:p>
          <a:p>
            <a:pPr algn="l">
              <a:lnSpc>
                <a:spcPct val="150000"/>
              </a:lnSpc>
            </a:pPr>
            <a:r>
              <a:rPr lang="en-US" altLang="en-US" sz="3200">
                <a:solidFill>
                  <a:srgbClr val="003060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SQL Server</a:t>
            </a:r>
            <a:endParaRPr lang="en-US" altLang="en-US" sz="3200">
              <a:solidFill>
                <a:srgbClr val="003060"/>
              </a:solidFill>
              <a:latin typeface="Calibri" panose="020F0502020204030204" charset="0"/>
              <a:ea typeface="Garet Bold"/>
              <a:cs typeface="Calibri" panose="020F0502020204030204" charset="0"/>
              <a:sym typeface="Garet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060">
                <a:alpha val="100000"/>
              </a:srgbClr>
            </a:gs>
            <a:gs pos="100000">
              <a:srgbClr val="003060">
                <a:alpha val="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4572000" y="2088515"/>
            <a:ext cx="9144000" cy="1384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ts val="10090"/>
              </a:lnSpc>
            </a:pPr>
            <a:r>
              <a:rPr lang="en-US" altLang="en-US" sz="4000" b="1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  <a:sym typeface="Garet Bold"/>
              </a:rPr>
              <a:t>3. Phân tích và thiết kế hệ thống</a:t>
            </a:r>
            <a:endParaRPr lang="en-US" altLang="en-US" sz="4000" b="1">
              <a:solidFill>
                <a:srgbClr val="FFFFFF"/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</p:txBody>
      </p:sp>
      <p:grpSp>
        <p:nvGrpSpPr>
          <p:cNvPr id="14" name="Group 13"/>
          <p:cNvGrpSpPr/>
          <p:nvPr>
            <p:custDataLst>
              <p:tags r:id="rId1"/>
            </p:custDataLst>
          </p:nvPr>
        </p:nvGrpSpPr>
        <p:grpSpPr>
          <a:xfrm>
            <a:off x="3502660" y="5257165"/>
            <a:ext cx="4716780" cy="1182370"/>
            <a:chOff x="2936" y="8439"/>
            <a:chExt cx="5571" cy="945"/>
          </a:xfrm>
        </p:grpSpPr>
        <p:grpSp>
          <p:nvGrpSpPr>
            <p:cNvPr id="11" name="Group 4"/>
            <p:cNvGrpSpPr/>
            <p:nvPr/>
          </p:nvGrpSpPr>
          <p:grpSpPr>
            <a:xfrm rot="0">
              <a:off x="2936" y="8439"/>
              <a:ext cx="5571" cy="945"/>
              <a:chOff x="0" y="0"/>
              <a:chExt cx="931710" cy="158052"/>
            </a:xfrm>
          </p:grpSpPr>
          <p:sp>
            <p:nvSpPr>
              <p:cNvPr id="12" name="Freeform 5"/>
              <p:cNvSpPr/>
              <p:nvPr>
                <p:custDataLst>
                  <p:tags r:id="rId2"/>
                </p:custDataLst>
              </p:nvPr>
            </p:nvSpPr>
            <p:spPr>
              <a:xfrm>
                <a:off x="0" y="0"/>
                <a:ext cx="931710" cy="158052"/>
              </a:xfrm>
              <a:custGeom>
                <a:avLst/>
                <a:gdLst/>
                <a:ahLst/>
                <a:cxnLst/>
                <a:rect l="l" t="t" r="r" b="b"/>
                <a:pathLst>
                  <a:path w="931710" h="158052">
                    <a:moveTo>
                      <a:pt x="28450" y="0"/>
                    </a:moveTo>
                    <a:lnTo>
                      <a:pt x="903260" y="0"/>
                    </a:lnTo>
                    <a:cubicBezTo>
                      <a:pt x="918973" y="0"/>
                      <a:pt x="931710" y="12738"/>
                      <a:pt x="931710" y="28450"/>
                    </a:cubicBezTo>
                    <a:lnTo>
                      <a:pt x="931710" y="129602"/>
                    </a:lnTo>
                    <a:cubicBezTo>
                      <a:pt x="931710" y="145315"/>
                      <a:pt x="918973" y="158052"/>
                      <a:pt x="903260" y="158052"/>
                    </a:cubicBezTo>
                    <a:lnTo>
                      <a:pt x="28450" y="158052"/>
                    </a:lnTo>
                    <a:cubicBezTo>
                      <a:pt x="12738" y="158052"/>
                      <a:pt x="0" y="145315"/>
                      <a:pt x="0" y="129602"/>
                    </a:cubicBezTo>
                    <a:lnTo>
                      <a:pt x="0" y="28450"/>
                    </a:lnTo>
                    <a:cubicBezTo>
                      <a:pt x="0" y="12738"/>
                      <a:pt x="12738" y="0"/>
                      <a:pt x="2845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3060">
                      <a:alpha val="100000"/>
                    </a:srgbClr>
                  </a:gs>
                  <a:gs pos="100000">
                    <a:srgbClr val="003060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id="13" name="TextBox 6"/>
              <p:cNvSpPr txBox="1"/>
              <p:nvPr/>
            </p:nvSpPr>
            <p:spPr>
              <a:xfrm>
                <a:off x="0" y="-57150"/>
                <a:ext cx="931710" cy="2152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id="44" name="TextBox 44"/>
            <p:cNvSpPr txBox="1"/>
            <p:nvPr>
              <p:custDataLst>
                <p:tags r:id="rId3"/>
              </p:custDataLst>
            </p:nvPr>
          </p:nvSpPr>
          <p:spPr>
            <a:xfrm>
              <a:off x="3299" y="8815"/>
              <a:ext cx="4597" cy="1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45"/>
                </a:lnSpc>
              </a:pPr>
              <a:r>
                <a:rPr lang="en-US" altLang="en-US" sz="2800" b="1">
                  <a:solidFill>
                    <a:srgbClr val="FFFFFF"/>
                  </a:solidFill>
                  <a:latin typeface="Calibri" panose="020F0502020204030204" charset="0"/>
                  <a:ea typeface="Garet"/>
                  <a:cs typeface="Calibri" panose="020F0502020204030204" charset="0"/>
                  <a:sym typeface="Garet"/>
                </a:rPr>
                <a:t>3.1 </a:t>
              </a:r>
              <a:r>
                <a:rPr lang="vi-VN" altLang="en-US" sz="2800" b="1">
                  <a:solidFill>
                    <a:srgbClr val="FFFFFF"/>
                  </a:solidFill>
                  <a:latin typeface="Calibri" panose="020F0502020204030204" charset="0"/>
                  <a:ea typeface="Garet"/>
                  <a:cs typeface="Calibri" panose="020F0502020204030204" charset="0"/>
                  <a:sym typeface="Garet"/>
                </a:rPr>
                <a:t>Thiết kế</a:t>
              </a:r>
              <a:r>
                <a:rPr lang="en-US" altLang="en-US" sz="2800" b="1">
                  <a:solidFill>
                    <a:srgbClr val="FFFFFF"/>
                  </a:solidFill>
                  <a:latin typeface="Calibri" panose="020F0502020204030204" charset="0"/>
                  <a:ea typeface="Garet"/>
                  <a:cs typeface="Calibri" panose="020F0502020204030204" charset="0"/>
                  <a:sym typeface="Garet"/>
                </a:rPr>
                <a:t> dữ liệu</a:t>
              </a:r>
              <a:endParaRPr lang="en-US" altLang="en-US" sz="2800" b="1">
                <a:solidFill>
                  <a:srgbClr val="FFFFFF"/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endParaRPr>
            </a:p>
          </p:txBody>
        </p:sp>
      </p:grpSp>
      <p:grpSp>
        <p:nvGrpSpPr>
          <p:cNvPr id="20" name="Group 19"/>
          <p:cNvGrpSpPr/>
          <p:nvPr>
            <p:custDataLst>
              <p:tags r:id="rId4"/>
            </p:custDataLst>
          </p:nvPr>
        </p:nvGrpSpPr>
        <p:grpSpPr>
          <a:xfrm>
            <a:off x="10477500" y="5257165"/>
            <a:ext cx="4716780" cy="1188085"/>
            <a:chOff x="2936" y="8439"/>
            <a:chExt cx="5571" cy="945"/>
          </a:xfrm>
        </p:grpSpPr>
        <p:grpSp>
          <p:nvGrpSpPr>
            <p:cNvPr id="21" name="Group 4"/>
            <p:cNvGrpSpPr/>
            <p:nvPr/>
          </p:nvGrpSpPr>
          <p:grpSpPr>
            <a:xfrm rot="0">
              <a:off x="2936" y="8439"/>
              <a:ext cx="5571" cy="945"/>
              <a:chOff x="0" y="0"/>
              <a:chExt cx="931710" cy="158052"/>
            </a:xfrm>
          </p:grpSpPr>
          <p:sp>
            <p:nvSpPr>
              <p:cNvPr id="22" name="Freeform 5"/>
              <p:cNvSpPr/>
              <p:nvPr>
                <p:custDataLst>
                  <p:tags r:id="rId5"/>
                </p:custDataLst>
              </p:nvPr>
            </p:nvSpPr>
            <p:spPr>
              <a:xfrm>
                <a:off x="0" y="0"/>
                <a:ext cx="931710" cy="158052"/>
              </a:xfrm>
              <a:custGeom>
                <a:avLst/>
                <a:gdLst/>
                <a:ahLst/>
                <a:cxnLst/>
                <a:rect l="l" t="t" r="r" b="b"/>
                <a:pathLst>
                  <a:path w="931710" h="158052">
                    <a:moveTo>
                      <a:pt x="28450" y="0"/>
                    </a:moveTo>
                    <a:lnTo>
                      <a:pt x="903260" y="0"/>
                    </a:lnTo>
                    <a:cubicBezTo>
                      <a:pt x="918973" y="0"/>
                      <a:pt x="931710" y="12738"/>
                      <a:pt x="931710" y="28450"/>
                    </a:cubicBezTo>
                    <a:lnTo>
                      <a:pt x="931710" y="129602"/>
                    </a:lnTo>
                    <a:cubicBezTo>
                      <a:pt x="931710" y="145315"/>
                      <a:pt x="918973" y="158052"/>
                      <a:pt x="903260" y="158052"/>
                    </a:cubicBezTo>
                    <a:lnTo>
                      <a:pt x="28450" y="158052"/>
                    </a:lnTo>
                    <a:cubicBezTo>
                      <a:pt x="12738" y="158052"/>
                      <a:pt x="0" y="145315"/>
                      <a:pt x="0" y="129602"/>
                    </a:cubicBezTo>
                    <a:lnTo>
                      <a:pt x="0" y="28450"/>
                    </a:lnTo>
                    <a:cubicBezTo>
                      <a:pt x="0" y="12738"/>
                      <a:pt x="12738" y="0"/>
                      <a:pt x="2845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3060">
                      <a:alpha val="100000"/>
                    </a:srgbClr>
                  </a:gs>
                  <a:gs pos="100000">
                    <a:srgbClr val="003060">
                      <a:alpha val="0"/>
                    </a:srgbClr>
                  </a:gs>
                </a:gsLst>
                <a:lin ang="5400000"/>
              </a:gradFill>
            </p:spPr>
          </p:sp>
          <p:sp>
            <p:nvSpPr>
              <p:cNvPr id="23" name="TextBox 6"/>
              <p:cNvSpPr txBox="1"/>
              <p:nvPr/>
            </p:nvSpPr>
            <p:spPr>
              <a:xfrm>
                <a:off x="0" y="-57150"/>
                <a:ext cx="931710" cy="21520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500"/>
                  </a:lnSpc>
                </a:pPr>
              </a:p>
            </p:txBody>
          </p:sp>
        </p:grpSp>
        <p:sp>
          <p:nvSpPr>
            <p:cNvPr id="24" name="TextBox 44"/>
            <p:cNvSpPr txBox="1"/>
            <p:nvPr>
              <p:custDataLst>
                <p:tags r:id="rId6"/>
              </p:custDataLst>
            </p:nvPr>
          </p:nvSpPr>
          <p:spPr>
            <a:xfrm>
              <a:off x="3423" y="8821"/>
              <a:ext cx="4597" cy="1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45"/>
                </a:lnSpc>
              </a:pPr>
              <a:r>
                <a:rPr lang="en-US" altLang="en-US" sz="2800" b="1">
                  <a:solidFill>
                    <a:srgbClr val="FFFFFF"/>
                  </a:solidFill>
                  <a:latin typeface="Calibri" panose="020F0502020204030204" charset="0"/>
                  <a:ea typeface="Garet"/>
                  <a:cs typeface="Calibri" panose="020F0502020204030204" charset="0"/>
                  <a:sym typeface="Garet"/>
                </a:rPr>
                <a:t>3.</a:t>
              </a:r>
              <a:r>
                <a:rPr lang="vi-VN" altLang="en-US" sz="2800" b="1">
                  <a:solidFill>
                    <a:srgbClr val="FFFFFF"/>
                  </a:solidFill>
                  <a:latin typeface="Calibri" panose="020F0502020204030204" charset="0"/>
                  <a:ea typeface="Garet"/>
                  <a:cs typeface="Calibri" panose="020F0502020204030204" charset="0"/>
                  <a:sym typeface="Garet"/>
                </a:rPr>
                <a:t>2</a:t>
              </a:r>
              <a:r>
                <a:rPr lang="en-US" altLang="en-US" sz="2800" b="1">
                  <a:solidFill>
                    <a:srgbClr val="FFFFFF"/>
                  </a:solidFill>
                  <a:latin typeface="Calibri" panose="020F0502020204030204" charset="0"/>
                  <a:ea typeface="Garet"/>
                  <a:cs typeface="Calibri" panose="020F0502020204030204" charset="0"/>
                  <a:sym typeface="Garet"/>
                </a:rPr>
                <a:t> Mô hình xử l</a:t>
              </a:r>
              <a:r>
                <a:rPr lang="en-US" altLang="en-US" sz="2800" b="1">
                  <a:solidFill>
                    <a:srgbClr val="FFFFFF"/>
                  </a:solidFill>
                  <a:latin typeface="Calibri" panose="020F0502020204030204" charset="0"/>
                  <a:ea typeface="Garet"/>
                  <a:cs typeface="Calibri" panose="020F0502020204030204" charset="0"/>
                  <a:sym typeface="Garet"/>
                </a:rPr>
                <a:t>ý</a:t>
              </a:r>
              <a:endParaRPr lang="en-US" altLang="en-US" sz="2800" b="1">
                <a:solidFill>
                  <a:srgbClr val="FFFFFF"/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endParaRPr>
            </a:p>
          </p:txBody>
        </p:sp>
      </p:grpSp>
      <p:cxnSp>
        <p:nvCxnSpPr>
          <p:cNvPr id="40" name="Straight Connector 39"/>
          <p:cNvCxnSpPr/>
          <p:nvPr/>
        </p:nvCxnSpPr>
        <p:spPr>
          <a:xfrm flipH="1">
            <a:off x="5861050" y="3473450"/>
            <a:ext cx="3282950" cy="1356360"/>
          </a:xfrm>
          <a:prstGeom prst="line">
            <a:avLst/>
          </a:prstGeom>
          <a:ln w="38100" cap="rnd">
            <a:solidFill>
              <a:schemeClr val="tx2">
                <a:lumMod val="75000"/>
              </a:schemeClr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9067800" y="3467100"/>
            <a:ext cx="3768090" cy="1360170"/>
          </a:xfrm>
          <a:prstGeom prst="line">
            <a:avLst/>
          </a:prstGeom>
          <a:ln w="381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-514350" y="4200"/>
            <a:ext cx="19118434" cy="3988725"/>
            <a:chOff x="0" y="0"/>
            <a:chExt cx="5035308" cy="10505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35308" cy="1050528"/>
            </a:xfrm>
            <a:custGeom>
              <a:avLst/>
              <a:gdLst/>
              <a:ahLst/>
              <a:cxnLst/>
              <a:rect l="l" t="t" r="r" b="b"/>
              <a:pathLst>
                <a:path w="5035308" h="1050528">
                  <a:moveTo>
                    <a:pt x="0" y="0"/>
                  </a:moveTo>
                  <a:lnTo>
                    <a:pt x="5035308" y="0"/>
                  </a:lnTo>
                  <a:lnTo>
                    <a:pt x="5035308" y="1050528"/>
                  </a:lnTo>
                  <a:lnTo>
                    <a:pt x="0" y="1050528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035308" cy="1107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4572000" y="-45085"/>
            <a:ext cx="9144000" cy="1384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ts val="10090"/>
              </a:lnSpc>
            </a:pPr>
            <a:r>
              <a:rPr lang="en-US" altLang="en-US" sz="4000" b="1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3.1 Thiết kế dữ liệu</a:t>
            </a:r>
            <a:endParaRPr lang="en-US" altLang="en-US" sz="4000" b="1">
              <a:solidFill>
                <a:srgbClr val="FFFFFF"/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</p:txBody>
      </p:sp>
      <p:pic>
        <p:nvPicPr>
          <p:cNvPr id="-2147482621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85900"/>
            <a:ext cx="16683990" cy="7618095"/>
          </a:xfrm>
          <a:prstGeom prst="rect">
            <a:avLst/>
          </a:prstGeom>
          <a:noFill/>
          <a:ln w="9525" cap="flat" cmpd="sng">
            <a:solidFill>
              <a:srgbClr val="D9D9D9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2" name="Text Box 21"/>
          <p:cNvSpPr txBox="1"/>
          <p:nvPr/>
        </p:nvSpPr>
        <p:spPr>
          <a:xfrm>
            <a:off x="1870075" y="9105900"/>
            <a:ext cx="1454785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Hình 3.</a:t>
            </a:r>
            <a:r>
              <a:rPr lang="vi-VN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1</a:t>
            </a:r>
            <a:r>
              <a:rPr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: Lược đồ cơ sở dữ liệu</a:t>
            </a:r>
            <a:endParaRPr sz="3200" i="1">
              <a:solidFill>
                <a:srgbClr val="0000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-514350" y="4200"/>
            <a:ext cx="19118434" cy="3988725"/>
            <a:chOff x="0" y="0"/>
            <a:chExt cx="5035308" cy="105052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35308" cy="1050528"/>
            </a:xfrm>
            <a:custGeom>
              <a:avLst/>
              <a:gdLst/>
              <a:ahLst/>
              <a:cxnLst/>
              <a:rect l="l" t="t" r="r" b="b"/>
              <a:pathLst>
                <a:path w="5035308" h="1050528">
                  <a:moveTo>
                    <a:pt x="0" y="0"/>
                  </a:moveTo>
                  <a:lnTo>
                    <a:pt x="5035308" y="0"/>
                  </a:lnTo>
                  <a:lnTo>
                    <a:pt x="5035308" y="1050528"/>
                  </a:lnTo>
                  <a:lnTo>
                    <a:pt x="0" y="1050528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5035308" cy="1107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4572000" y="-45085"/>
            <a:ext cx="9144000" cy="1384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ts val="10090"/>
              </a:lnSpc>
            </a:pPr>
            <a:r>
              <a:rPr lang="en-US" altLang="en-US" sz="4000" b="1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3.2 Mô hình xử l</a:t>
            </a:r>
            <a:r>
              <a:rPr lang="" altLang="en-US" sz="4000" b="1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ý</a:t>
            </a:r>
            <a:endParaRPr lang="" altLang="en-US" sz="4000" b="1">
              <a:solidFill>
                <a:srgbClr val="FFFFFF"/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1870075" y="9105900"/>
            <a:ext cx="14547850" cy="82994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Hình 3.</a:t>
            </a:r>
            <a:r>
              <a:rPr lang="vi-VN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2</a:t>
            </a:r>
            <a:r>
              <a:rPr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: </a:t>
            </a:r>
            <a:r>
              <a:rPr lang="en-US" altLang="en-US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Sơ </a:t>
            </a:r>
            <a:r>
              <a:rPr lang="" altLang="en-US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đ</a:t>
            </a:r>
            <a:r>
              <a:rPr lang="en-US" altLang="en-US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ồ Use case tổng quát</a:t>
            </a:r>
            <a:endParaRPr lang="en-US" altLang="en-US" sz="3200" i="1">
              <a:solidFill>
                <a:srgbClr val="0000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pic>
        <p:nvPicPr>
          <p:cNvPr id="-2147482620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10" y="1562100"/>
            <a:ext cx="16278860" cy="749681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060">
                <a:alpha val="100000"/>
              </a:srgbClr>
            </a:gs>
            <a:gs pos="100000">
              <a:srgbClr val="003060">
                <a:alpha val="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4572000" y="2539365"/>
            <a:ext cx="9144000" cy="1384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ts val="10090"/>
              </a:lnSpc>
            </a:pPr>
            <a:r>
              <a:rPr lang="vi-VN" altLang="en-US" sz="4000" b="1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4. </a:t>
            </a:r>
            <a:r>
              <a:rPr lang="en-US" altLang="en-US" sz="4000" b="1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Kết quả </a:t>
            </a:r>
            <a:r>
              <a:rPr lang="" altLang="en-US" sz="4000" b="1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đ</a:t>
            </a:r>
            <a:r>
              <a:rPr lang="en-US" altLang="en-US" sz="4000" b="1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ạt </a:t>
            </a:r>
            <a:r>
              <a:rPr lang="" altLang="en-US" sz="4000" b="1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đư</a:t>
            </a:r>
            <a:r>
              <a:rPr lang="en-US" altLang="en-US" sz="4000" b="1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ợc</a:t>
            </a:r>
            <a:endParaRPr lang="en-US" altLang="en-US" sz="4000" b="1">
              <a:solidFill>
                <a:srgbClr val="FFFFFF"/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</p:txBody>
      </p:sp>
      <p:sp>
        <p:nvSpPr>
          <p:cNvPr id="48" name="Text Box 47"/>
          <p:cNvSpPr txBox="1"/>
          <p:nvPr/>
        </p:nvSpPr>
        <p:spPr>
          <a:xfrm>
            <a:off x="4572000" y="3924300"/>
            <a:ext cx="9144000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vi-VN" altLang="en-US" sz="4000" b="1" i="1" u="sng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Một số giao diện tiêu biểu:</a:t>
            </a:r>
            <a:endParaRPr lang="vi-VN" altLang="en-US" sz="4000" b="1" i="1" u="sng">
              <a:solidFill>
                <a:srgbClr val="FFFFFF"/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  <a:p>
            <a:pPr indent="457200" algn="l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en-US" sz="4000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Form </a:t>
            </a:r>
            <a:r>
              <a:rPr lang="" altLang="en-US" sz="4000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đ</a:t>
            </a:r>
            <a:r>
              <a:rPr lang="en-US" altLang="en-US" sz="4000">
                <a:solidFill>
                  <a:srgbClr val="FFFFFF"/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ặt lịch khám</a:t>
            </a:r>
            <a:endParaRPr lang="en-US" altLang="en-US" sz="4000">
              <a:solidFill>
                <a:srgbClr val="FFFFFF"/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  <a:p>
            <a:pPr indent="457200" algn="l">
              <a:lnSpc>
                <a:spcPct val="100000"/>
              </a:lnSpc>
            </a:pPr>
            <a:r>
              <a:rPr lang="vi-VN" altLang="en-US" sz="4000">
                <a:solidFill>
                  <a:srgbClr val="FFFFFF"/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T</a:t>
            </a:r>
            <a:r>
              <a:rPr lang="en-US" altLang="en-US" sz="4000">
                <a:solidFill>
                  <a:srgbClr val="FFFFFF"/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rang </a:t>
            </a:r>
            <a:r>
              <a:rPr lang="vi-VN" altLang="en-US" sz="4000">
                <a:solidFill>
                  <a:srgbClr val="FFFFFF"/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quản lý</a:t>
            </a:r>
            <a:endParaRPr lang="vi-VN" altLang="en-US" sz="4000">
              <a:solidFill>
                <a:srgbClr val="FFFFFF"/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indent="457200" algn="l">
              <a:lnSpc>
                <a:spcPct val="100000"/>
              </a:lnSpc>
            </a:pPr>
            <a:r>
              <a:rPr lang="vi-VN" altLang="en-US" sz="4000">
                <a:solidFill>
                  <a:srgbClr val="FFFFFF"/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Trang quản lý bác sĩ</a:t>
            </a:r>
            <a:endParaRPr lang="vi-VN" altLang="en-US" sz="4000">
              <a:solidFill>
                <a:srgbClr val="FFFFFF"/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</p:sp>
      <p:grpSp>
        <p:nvGrpSpPr>
          <p:cNvPr id="12" name="Group 12"/>
          <p:cNvGrpSpPr/>
          <p:nvPr/>
        </p:nvGrpSpPr>
        <p:grpSpPr>
          <a:xfrm rot="0">
            <a:off x="-618801" y="-297241"/>
            <a:ext cx="1647501" cy="10968002"/>
            <a:chOff x="0" y="0"/>
            <a:chExt cx="433910" cy="28886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3910" cy="2888692"/>
            </a:xfrm>
            <a:custGeom>
              <a:avLst/>
              <a:gdLst/>
              <a:ahLst/>
              <a:cxnLst/>
              <a:rect l="l" t="t" r="r" b="b"/>
              <a:pathLst>
                <a:path w="433910" h="2888692">
                  <a:moveTo>
                    <a:pt x="0" y="0"/>
                  </a:moveTo>
                  <a:lnTo>
                    <a:pt x="433910" y="0"/>
                  </a:lnTo>
                  <a:lnTo>
                    <a:pt x="433910" y="2888692"/>
                  </a:lnTo>
                  <a:lnTo>
                    <a:pt x="0" y="2888692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433910" cy="2945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7259300" y="6291881"/>
            <a:ext cx="1647501" cy="4537830"/>
            <a:chOff x="0" y="0"/>
            <a:chExt cx="433910" cy="11951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3910" cy="1195149"/>
            </a:xfrm>
            <a:custGeom>
              <a:avLst/>
              <a:gdLst/>
              <a:ahLst/>
              <a:cxnLst/>
              <a:rect l="l" t="t" r="r" b="b"/>
              <a:pathLst>
                <a:path w="433910" h="1195149">
                  <a:moveTo>
                    <a:pt x="93984" y="0"/>
                  </a:moveTo>
                  <a:lnTo>
                    <a:pt x="339926" y="0"/>
                  </a:lnTo>
                  <a:cubicBezTo>
                    <a:pt x="391832" y="0"/>
                    <a:pt x="433910" y="42078"/>
                    <a:pt x="433910" y="93984"/>
                  </a:cubicBezTo>
                  <a:lnTo>
                    <a:pt x="433910" y="1101165"/>
                  </a:lnTo>
                  <a:cubicBezTo>
                    <a:pt x="433910" y="1153071"/>
                    <a:pt x="391832" y="1195149"/>
                    <a:pt x="339926" y="1195149"/>
                  </a:cubicBezTo>
                  <a:lnTo>
                    <a:pt x="93984" y="1195149"/>
                  </a:lnTo>
                  <a:cubicBezTo>
                    <a:pt x="42078" y="1195149"/>
                    <a:pt x="0" y="1153071"/>
                    <a:pt x="0" y="1101165"/>
                  </a:cubicBezTo>
                  <a:lnTo>
                    <a:pt x="0" y="93984"/>
                  </a:lnTo>
                  <a:cubicBezTo>
                    <a:pt x="0" y="42078"/>
                    <a:pt x="42078" y="0"/>
                    <a:pt x="9398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433910" cy="125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id="28" name="Text Box 27"/>
          <p:cNvSpPr txBox="1"/>
          <p:nvPr/>
        </p:nvSpPr>
        <p:spPr>
          <a:xfrm>
            <a:off x="1905000" y="495300"/>
            <a:ext cx="9144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vi-VN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4.</a:t>
            </a:r>
            <a:r>
              <a:rPr lang="en-US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 </a:t>
            </a:r>
            <a:r>
              <a:rPr lang="vi-VN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Kết quả đạt được</a:t>
            </a:r>
            <a:endParaRPr lang="en-US" altLang="en-US" sz="4000" b="1">
              <a:solidFill>
                <a:schemeClr val="tx2">
                  <a:lumMod val="75000"/>
                </a:schemeClr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  <a:p>
            <a:pPr indent="457200" algn="l">
              <a:lnSpc>
                <a:spcPct val="100000"/>
              </a:lnSpc>
            </a:pPr>
            <a:r>
              <a:rPr lang="en-US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Form đặt lịch khám</a:t>
            </a:r>
            <a:endParaRPr lang="en-US" altLang="en-US" sz="4000" b="1">
              <a:solidFill>
                <a:schemeClr val="tx2">
                  <a:lumMod val="75000"/>
                </a:schemeClr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485" y="1943100"/>
            <a:ext cx="9257665" cy="7472680"/>
          </a:xfrm>
          <a:prstGeom prst="rect">
            <a:avLst/>
          </a:prstGeom>
        </p:spPr>
      </p:pic>
      <p:sp>
        <p:nvSpPr>
          <p:cNvPr id="25" name="Text Box 24"/>
          <p:cNvSpPr txBox="1"/>
          <p:nvPr/>
        </p:nvSpPr>
        <p:spPr>
          <a:xfrm>
            <a:off x="1870075" y="9258300"/>
            <a:ext cx="14547850" cy="829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Hình </a:t>
            </a:r>
            <a:r>
              <a:rPr lang="vi-VN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4</a:t>
            </a:r>
            <a:r>
              <a:rPr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.</a:t>
            </a:r>
            <a:r>
              <a:rPr lang="vi-VN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1</a:t>
            </a:r>
            <a:r>
              <a:rPr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: </a:t>
            </a:r>
            <a:r>
              <a:rPr lang="vi-VN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Giao diện form đặt lịch khám </a:t>
            </a:r>
            <a:r>
              <a:rPr lang="vi-VN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bệnh</a:t>
            </a:r>
            <a:endParaRPr lang="vi-VN" sz="3200" i="1">
              <a:solidFill>
                <a:srgbClr val="0000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</p:sp>
      <p:grpSp>
        <p:nvGrpSpPr>
          <p:cNvPr id="12" name="Group 12"/>
          <p:cNvGrpSpPr/>
          <p:nvPr/>
        </p:nvGrpSpPr>
        <p:grpSpPr>
          <a:xfrm rot="0">
            <a:off x="-618801" y="-297241"/>
            <a:ext cx="1647501" cy="10968002"/>
            <a:chOff x="0" y="0"/>
            <a:chExt cx="433910" cy="28886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3910" cy="2888692"/>
            </a:xfrm>
            <a:custGeom>
              <a:avLst/>
              <a:gdLst/>
              <a:ahLst/>
              <a:cxnLst/>
              <a:rect l="l" t="t" r="r" b="b"/>
              <a:pathLst>
                <a:path w="433910" h="2888692">
                  <a:moveTo>
                    <a:pt x="0" y="0"/>
                  </a:moveTo>
                  <a:lnTo>
                    <a:pt x="433910" y="0"/>
                  </a:lnTo>
                  <a:lnTo>
                    <a:pt x="433910" y="2888692"/>
                  </a:lnTo>
                  <a:lnTo>
                    <a:pt x="0" y="2888692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433910" cy="2945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7259300" y="6291881"/>
            <a:ext cx="1647501" cy="4537830"/>
            <a:chOff x="0" y="0"/>
            <a:chExt cx="433910" cy="11951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3910" cy="1195149"/>
            </a:xfrm>
            <a:custGeom>
              <a:avLst/>
              <a:gdLst/>
              <a:ahLst/>
              <a:cxnLst/>
              <a:rect l="l" t="t" r="r" b="b"/>
              <a:pathLst>
                <a:path w="433910" h="1195149">
                  <a:moveTo>
                    <a:pt x="93984" y="0"/>
                  </a:moveTo>
                  <a:lnTo>
                    <a:pt x="339926" y="0"/>
                  </a:lnTo>
                  <a:cubicBezTo>
                    <a:pt x="391832" y="0"/>
                    <a:pt x="433910" y="42078"/>
                    <a:pt x="433910" y="93984"/>
                  </a:cubicBezTo>
                  <a:lnTo>
                    <a:pt x="433910" y="1101165"/>
                  </a:lnTo>
                  <a:cubicBezTo>
                    <a:pt x="433910" y="1153071"/>
                    <a:pt x="391832" y="1195149"/>
                    <a:pt x="339926" y="1195149"/>
                  </a:cubicBezTo>
                  <a:lnTo>
                    <a:pt x="93984" y="1195149"/>
                  </a:lnTo>
                  <a:cubicBezTo>
                    <a:pt x="42078" y="1195149"/>
                    <a:pt x="0" y="1153071"/>
                    <a:pt x="0" y="1101165"/>
                  </a:cubicBezTo>
                  <a:lnTo>
                    <a:pt x="0" y="93984"/>
                  </a:lnTo>
                  <a:cubicBezTo>
                    <a:pt x="0" y="42078"/>
                    <a:pt x="42078" y="0"/>
                    <a:pt x="9398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433910" cy="125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id="28" name="Text Box 27"/>
          <p:cNvSpPr txBox="1"/>
          <p:nvPr/>
        </p:nvSpPr>
        <p:spPr>
          <a:xfrm>
            <a:off x="1905000" y="495300"/>
            <a:ext cx="9144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vi-VN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4. Kết quả đạt được</a:t>
            </a:r>
            <a:endParaRPr lang="vi-VN" altLang="en-US" sz="4000" b="1">
              <a:solidFill>
                <a:schemeClr val="tx2">
                  <a:lumMod val="75000"/>
                </a:schemeClr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  <a:p>
            <a:pPr indent="457200">
              <a:lnSpc>
                <a:spcPct val="100000"/>
              </a:lnSpc>
            </a:pPr>
            <a:r>
              <a:rPr lang="vi-VN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T</a:t>
            </a:r>
            <a:r>
              <a:rPr lang="en-US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rang quản l</a:t>
            </a:r>
            <a:r>
              <a:rPr lang="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ý</a:t>
            </a:r>
            <a:endParaRPr lang="" altLang="en-US" sz="4000" b="1">
              <a:solidFill>
                <a:schemeClr val="tx2">
                  <a:lumMod val="75000"/>
                </a:schemeClr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870075" y="9258300"/>
            <a:ext cx="14547850" cy="82994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Hình </a:t>
            </a:r>
            <a:r>
              <a:rPr lang="vi-VN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4.2</a:t>
            </a:r>
            <a:r>
              <a:rPr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: </a:t>
            </a:r>
            <a:r>
              <a:rPr lang="vi-VN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Giao diện trang quản </a:t>
            </a:r>
            <a:r>
              <a:rPr lang="vi-VN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lý</a:t>
            </a:r>
            <a:endParaRPr lang="vi-VN" sz="3200" i="1">
              <a:solidFill>
                <a:srgbClr val="0000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pic>
        <p:nvPicPr>
          <p:cNvPr id="-2147482600" name="Picture -21474826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943100"/>
            <a:ext cx="14925675" cy="7160260"/>
          </a:xfrm>
          <a:prstGeom prst="rect">
            <a:avLst/>
          </a:prstGeom>
          <a:noFill/>
          <a:ln w="9525" cap="flat" cmpd="sng">
            <a:solidFill>
              <a:srgbClr val="BFBFBF"/>
            </a:solidFill>
            <a:prstDash val="solid"/>
            <a:miter/>
            <a:headEnd type="none" w="med" len="med"/>
            <a:tailEnd type="none" w="med" len="med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</p:sp>
      <p:grpSp>
        <p:nvGrpSpPr>
          <p:cNvPr id="12" name="Group 12"/>
          <p:cNvGrpSpPr/>
          <p:nvPr/>
        </p:nvGrpSpPr>
        <p:grpSpPr>
          <a:xfrm rot="0">
            <a:off x="-618801" y="-297241"/>
            <a:ext cx="1647501" cy="10968002"/>
            <a:chOff x="0" y="0"/>
            <a:chExt cx="433910" cy="28886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3910" cy="2888692"/>
            </a:xfrm>
            <a:custGeom>
              <a:avLst/>
              <a:gdLst/>
              <a:ahLst/>
              <a:cxnLst/>
              <a:rect l="l" t="t" r="r" b="b"/>
              <a:pathLst>
                <a:path w="433910" h="2888692">
                  <a:moveTo>
                    <a:pt x="0" y="0"/>
                  </a:moveTo>
                  <a:lnTo>
                    <a:pt x="433910" y="0"/>
                  </a:lnTo>
                  <a:lnTo>
                    <a:pt x="433910" y="2888692"/>
                  </a:lnTo>
                  <a:lnTo>
                    <a:pt x="0" y="2888692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433910" cy="29458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17259300" y="6291881"/>
            <a:ext cx="1647501" cy="4537830"/>
            <a:chOff x="0" y="0"/>
            <a:chExt cx="433910" cy="119514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33910" cy="1195149"/>
            </a:xfrm>
            <a:custGeom>
              <a:avLst/>
              <a:gdLst/>
              <a:ahLst/>
              <a:cxnLst/>
              <a:rect l="l" t="t" r="r" b="b"/>
              <a:pathLst>
                <a:path w="433910" h="1195149">
                  <a:moveTo>
                    <a:pt x="93984" y="0"/>
                  </a:moveTo>
                  <a:lnTo>
                    <a:pt x="339926" y="0"/>
                  </a:lnTo>
                  <a:cubicBezTo>
                    <a:pt x="391832" y="0"/>
                    <a:pt x="433910" y="42078"/>
                    <a:pt x="433910" y="93984"/>
                  </a:cubicBezTo>
                  <a:lnTo>
                    <a:pt x="433910" y="1101165"/>
                  </a:lnTo>
                  <a:cubicBezTo>
                    <a:pt x="433910" y="1153071"/>
                    <a:pt x="391832" y="1195149"/>
                    <a:pt x="339926" y="1195149"/>
                  </a:cubicBezTo>
                  <a:lnTo>
                    <a:pt x="93984" y="1195149"/>
                  </a:lnTo>
                  <a:cubicBezTo>
                    <a:pt x="42078" y="1195149"/>
                    <a:pt x="0" y="1153071"/>
                    <a:pt x="0" y="1101165"/>
                  </a:cubicBezTo>
                  <a:lnTo>
                    <a:pt x="0" y="93984"/>
                  </a:lnTo>
                  <a:cubicBezTo>
                    <a:pt x="0" y="42078"/>
                    <a:pt x="42078" y="0"/>
                    <a:pt x="9398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433910" cy="1252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id="28" name="Text Box 27"/>
          <p:cNvSpPr txBox="1"/>
          <p:nvPr/>
        </p:nvSpPr>
        <p:spPr>
          <a:xfrm>
            <a:off x="1905000" y="495300"/>
            <a:ext cx="9144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vi-VN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4.</a:t>
            </a:r>
            <a:r>
              <a:rPr lang="en-US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 Thiết kế giao diện</a:t>
            </a:r>
            <a:endParaRPr lang="en-US" altLang="en-US" sz="4000" b="1">
              <a:solidFill>
                <a:schemeClr val="tx2">
                  <a:lumMod val="75000"/>
                </a:schemeClr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  <a:p>
            <a:pPr indent="457200">
              <a:lnSpc>
                <a:spcPct val="100000"/>
              </a:lnSpc>
            </a:pPr>
            <a:r>
              <a:rPr lang="en-US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Trang quản l</a:t>
            </a:r>
            <a:r>
              <a:rPr lang="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ý</a:t>
            </a:r>
            <a:r>
              <a:rPr lang="en-US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 bác s</a:t>
            </a:r>
            <a:r>
              <a:rPr lang="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ĩ</a:t>
            </a:r>
            <a:endParaRPr lang="" altLang="en-US" sz="4000" b="1">
              <a:solidFill>
                <a:schemeClr val="tx2">
                  <a:lumMod val="75000"/>
                </a:schemeClr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1870075" y="9258300"/>
            <a:ext cx="14547850" cy="829945"/>
          </a:xfrm>
          <a:prstGeom prst="rect">
            <a:avLst/>
          </a:prstGeom>
        </p:spPr>
        <p:txBody>
          <a:bodyPr wrap="square">
            <a:spAutoFit/>
          </a:bodyPr>
          <a:p>
            <a:pPr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Hình </a:t>
            </a:r>
            <a:r>
              <a:rPr lang="vi-VN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4.3</a:t>
            </a:r>
            <a:r>
              <a:rPr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: </a:t>
            </a:r>
            <a:r>
              <a:rPr lang="vi-VN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Giao diện trang quản lý bác </a:t>
            </a:r>
            <a:r>
              <a:rPr lang="vi-VN" sz="3200" i="1">
                <a:solidFill>
                  <a:srgbClr val="000000"/>
                </a:solidFill>
                <a:latin typeface="Calibri" panose="020F0502020204030204" charset="0"/>
                <a:ea typeface="Times New Roman" panose="02020603050405020304"/>
                <a:cs typeface="Calibri" panose="020F0502020204030204" charset="0"/>
              </a:rPr>
              <a:t>sĩ</a:t>
            </a:r>
            <a:endParaRPr lang="vi-VN" sz="3200" i="1">
              <a:solidFill>
                <a:srgbClr val="000000"/>
              </a:solidFill>
              <a:latin typeface="Calibri" panose="020F0502020204030204" charset="0"/>
              <a:ea typeface="Times New Roman" panose="02020603050405020304"/>
              <a:cs typeface="Calibri" panose="020F0502020204030204" charset="0"/>
            </a:endParaRPr>
          </a:p>
        </p:txBody>
      </p:sp>
      <p:pic>
        <p:nvPicPr>
          <p:cNvPr id="-2147482599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210" y="2025015"/>
            <a:ext cx="14770100" cy="70802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</p:sp>
      <p:grpSp>
        <p:nvGrpSpPr>
          <p:cNvPr id="19" name="Group 19"/>
          <p:cNvGrpSpPr/>
          <p:nvPr/>
        </p:nvGrpSpPr>
        <p:grpSpPr>
          <a:xfrm rot="0">
            <a:off x="-107178" y="9258300"/>
            <a:ext cx="8162329" cy="1592157"/>
            <a:chOff x="0" y="0"/>
            <a:chExt cx="2149749" cy="4193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49749" cy="419334"/>
            </a:xfrm>
            <a:custGeom>
              <a:avLst/>
              <a:gdLst/>
              <a:ahLst/>
              <a:cxnLst/>
              <a:rect l="l" t="t" r="r" b="b"/>
              <a:pathLst>
                <a:path w="2149749" h="419334">
                  <a:moveTo>
                    <a:pt x="15176" y="0"/>
                  </a:moveTo>
                  <a:lnTo>
                    <a:pt x="2134573" y="0"/>
                  </a:lnTo>
                  <a:cubicBezTo>
                    <a:pt x="2138598" y="0"/>
                    <a:pt x="2142458" y="1599"/>
                    <a:pt x="2145304" y="4445"/>
                  </a:cubicBezTo>
                  <a:cubicBezTo>
                    <a:pt x="2148150" y="7291"/>
                    <a:pt x="2149749" y="11151"/>
                    <a:pt x="2149749" y="15176"/>
                  </a:cubicBezTo>
                  <a:lnTo>
                    <a:pt x="2149749" y="404158"/>
                  </a:lnTo>
                  <a:cubicBezTo>
                    <a:pt x="2149749" y="408183"/>
                    <a:pt x="2148150" y="412043"/>
                    <a:pt x="2145304" y="414889"/>
                  </a:cubicBezTo>
                  <a:cubicBezTo>
                    <a:pt x="2142458" y="417735"/>
                    <a:pt x="2138598" y="419334"/>
                    <a:pt x="2134573" y="419334"/>
                  </a:cubicBezTo>
                  <a:lnTo>
                    <a:pt x="15176" y="419334"/>
                  </a:lnTo>
                  <a:cubicBezTo>
                    <a:pt x="6794" y="419334"/>
                    <a:pt x="0" y="412539"/>
                    <a:pt x="0" y="404158"/>
                  </a:cubicBezTo>
                  <a:lnTo>
                    <a:pt x="0" y="15176"/>
                  </a:lnTo>
                  <a:cubicBezTo>
                    <a:pt x="0" y="11151"/>
                    <a:pt x="1599" y="7291"/>
                    <a:pt x="4445" y="4445"/>
                  </a:cubicBezTo>
                  <a:cubicBezTo>
                    <a:pt x="7291" y="1599"/>
                    <a:pt x="11151" y="0"/>
                    <a:pt x="1517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149749" cy="47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0">
            <a:off x="9923912" y="-336043"/>
            <a:ext cx="8741633" cy="1132122"/>
            <a:chOff x="0" y="0"/>
            <a:chExt cx="2302323" cy="2981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302323" cy="298172"/>
            </a:xfrm>
            <a:custGeom>
              <a:avLst/>
              <a:gdLst/>
              <a:ahLst/>
              <a:cxnLst/>
              <a:rect l="l" t="t" r="r" b="b"/>
              <a:pathLst>
                <a:path w="2302323" h="298172">
                  <a:moveTo>
                    <a:pt x="14170" y="0"/>
                  </a:moveTo>
                  <a:lnTo>
                    <a:pt x="2288153" y="0"/>
                  </a:lnTo>
                  <a:cubicBezTo>
                    <a:pt x="2291911" y="0"/>
                    <a:pt x="2295515" y="1493"/>
                    <a:pt x="2298173" y="4150"/>
                  </a:cubicBezTo>
                  <a:cubicBezTo>
                    <a:pt x="2300830" y="6808"/>
                    <a:pt x="2302323" y="10412"/>
                    <a:pt x="2302323" y="14170"/>
                  </a:cubicBezTo>
                  <a:lnTo>
                    <a:pt x="2302323" y="284002"/>
                  </a:lnTo>
                  <a:cubicBezTo>
                    <a:pt x="2302323" y="287760"/>
                    <a:pt x="2300830" y="291364"/>
                    <a:pt x="2298173" y="294022"/>
                  </a:cubicBezTo>
                  <a:cubicBezTo>
                    <a:pt x="2295515" y="296679"/>
                    <a:pt x="2291911" y="298172"/>
                    <a:pt x="2288153" y="298172"/>
                  </a:cubicBezTo>
                  <a:lnTo>
                    <a:pt x="14170" y="298172"/>
                  </a:lnTo>
                  <a:cubicBezTo>
                    <a:pt x="10412" y="298172"/>
                    <a:pt x="6808" y="296679"/>
                    <a:pt x="4150" y="294022"/>
                  </a:cubicBezTo>
                  <a:cubicBezTo>
                    <a:pt x="1493" y="291364"/>
                    <a:pt x="0" y="287760"/>
                    <a:pt x="0" y="284002"/>
                  </a:cubicBezTo>
                  <a:lnTo>
                    <a:pt x="0" y="14170"/>
                  </a:lnTo>
                  <a:cubicBezTo>
                    <a:pt x="0" y="10412"/>
                    <a:pt x="1493" y="6808"/>
                    <a:pt x="4150" y="4150"/>
                  </a:cubicBezTo>
                  <a:cubicBezTo>
                    <a:pt x="6808" y="1493"/>
                    <a:pt x="10412" y="0"/>
                    <a:pt x="14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302323" cy="355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id="28" name="Text Box 27"/>
          <p:cNvSpPr txBox="1"/>
          <p:nvPr/>
        </p:nvSpPr>
        <p:spPr>
          <a:xfrm>
            <a:off x="2030095" y="647700"/>
            <a:ext cx="28575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vi-VN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4.</a:t>
            </a:r>
            <a:r>
              <a:rPr lang="en-US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 </a:t>
            </a:r>
            <a:r>
              <a:rPr lang="vi-VN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Kết luận</a:t>
            </a:r>
            <a:endParaRPr lang="vi-VN" altLang="en-US" sz="4000" b="1">
              <a:solidFill>
                <a:schemeClr val="tx2">
                  <a:lumMod val="75000"/>
                </a:schemeClr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</p:txBody>
      </p:sp>
      <p:sp>
        <p:nvSpPr>
          <p:cNvPr id="48" name="Text Box 47"/>
          <p:cNvSpPr txBox="1"/>
          <p:nvPr/>
        </p:nvSpPr>
        <p:spPr>
          <a:xfrm>
            <a:off x="2030095" y="1790700"/>
            <a:ext cx="14227810" cy="67392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en-US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Kết quả </a:t>
            </a:r>
            <a:r>
              <a:rPr lang="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ạt </a:t>
            </a:r>
            <a:r>
              <a:rPr lang="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đư</a:t>
            </a:r>
            <a:r>
              <a:rPr lang="en-US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ợc:</a:t>
            </a:r>
            <a:endParaRPr lang="en-US" altLang="en-US" sz="3600" b="1" i="1" u="sng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Xây dựng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đư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ợc website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ặt lịch hẹn khám bệnh trực tuyến.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Ứng dụng các công nghệ web: HTML, CSS, JavaScript, ASP.NET và cơ sở dữ liệu SQL.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Thực hiện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úng quy trình phân tích, thiết kế và xây dựng hệ thống.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Thiết kế giao diện thân thiện, bố cục hợp l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ý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Triển khai các chức n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ă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ng cơ bản: xem thông tin bác s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ĩ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, tin tức y tế,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ặt lịch khám.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push dir="u"/>
      </p:transition>
    </mc:Choice>
    <mc:Fallback>
      <p:transition spd="slow">
        <p:push dir="u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</p:sp>
      <p:grpSp>
        <p:nvGrpSpPr>
          <p:cNvPr id="19" name="Group 19"/>
          <p:cNvGrpSpPr/>
          <p:nvPr/>
        </p:nvGrpSpPr>
        <p:grpSpPr>
          <a:xfrm rot="0">
            <a:off x="-107178" y="9258300"/>
            <a:ext cx="8162329" cy="1592157"/>
            <a:chOff x="0" y="0"/>
            <a:chExt cx="2149749" cy="4193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49749" cy="419334"/>
            </a:xfrm>
            <a:custGeom>
              <a:avLst/>
              <a:gdLst/>
              <a:ahLst/>
              <a:cxnLst/>
              <a:rect l="l" t="t" r="r" b="b"/>
              <a:pathLst>
                <a:path w="2149749" h="419334">
                  <a:moveTo>
                    <a:pt x="15176" y="0"/>
                  </a:moveTo>
                  <a:lnTo>
                    <a:pt x="2134573" y="0"/>
                  </a:lnTo>
                  <a:cubicBezTo>
                    <a:pt x="2138598" y="0"/>
                    <a:pt x="2142458" y="1599"/>
                    <a:pt x="2145304" y="4445"/>
                  </a:cubicBezTo>
                  <a:cubicBezTo>
                    <a:pt x="2148150" y="7291"/>
                    <a:pt x="2149749" y="11151"/>
                    <a:pt x="2149749" y="15176"/>
                  </a:cubicBezTo>
                  <a:lnTo>
                    <a:pt x="2149749" y="404158"/>
                  </a:lnTo>
                  <a:cubicBezTo>
                    <a:pt x="2149749" y="408183"/>
                    <a:pt x="2148150" y="412043"/>
                    <a:pt x="2145304" y="414889"/>
                  </a:cubicBezTo>
                  <a:cubicBezTo>
                    <a:pt x="2142458" y="417735"/>
                    <a:pt x="2138598" y="419334"/>
                    <a:pt x="2134573" y="419334"/>
                  </a:cubicBezTo>
                  <a:lnTo>
                    <a:pt x="15176" y="419334"/>
                  </a:lnTo>
                  <a:cubicBezTo>
                    <a:pt x="6794" y="419334"/>
                    <a:pt x="0" y="412539"/>
                    <a:pt x="0" y="404158"/>
                  </a:cubicBezTo>
                  <a:lnTo>
                    <a:pt x="0" y="15176"/>
                  </a:lnTo>
                  <a:cubicBezTo>
                    <a:pt x="0" y="11151"/>
                    <a:pt x="1599" y="7291"/>
                    <a:pt x="4445" y="4445"/>
                  </a:cubicBezTo>
                  <a:cubicBezTo>
                    <a:pt x="7291" y="1599"/>
                    <a:pt x="11151" y="0"/>
                    <a:pt x="1517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149749" cy="47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0">
            <a:off x="9923912" y="-336043"/>
            <a:ext cx="8741633" cy="1132122"/>
            <a:chOff x="0" y="0"/>
            <a:chExt cx="2302323" cy="2981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302323" cy="298172"/>
            </a:xfrm>
            <a:custGeom>
              <a:avLst/>
              <a:gdLst/>
              <a:ahLst/>
              <a:cxnLst/>
              <a:rect l="l" t="t" r="r" b="b"/>
              <a:pathLst>
                <a:path w="2302323" h="298172">
                  <a:moveTo>
                    <a:pt x="14170" y="0"/>
                  </a:moveTo>
                  <a:lnTo>
                    <a:pt x="2288153" y="0"/>
                  </a:lnTo>
                  <a:cubicBezTo>
                    <a:pt x="2291911" y="0"/>
                    <a:pt x="2295515" y="1493"/>
                    <a:pt x="2298173" y="4150"/>
                  </a:cubicBezTo>
                  <a:cubicBezTo>
                    <a:pt x="2300830" y="6808"/>
                    <a:pt x="2302323" y="10412"/>
                    <a:pt x="2302323" y="14170"/>
                  </a:cubicBezTo>
                  <a:lnTo>
                    <a:pt x="2302323" y="284002"/>
                  </a:lnTo>
                  <a:cubicBezTo>
                    <a:pt x="2302323" y="287760"/>
                    <a:pt x="2300830" y="291364"/>
                    <a:pt x="2298173" y="294022"/>
                  </a:cubicBezTo>
                  <a:cubicBezTo>
                    <a:pt x="2295515" y="296679"/>
                    <a:pt x="2291911" y="298172"/>
                    <a:pt x="2288153" y="298172"/>
                  </a:cubicBezTo>
                  <a:lnTo>
                    <a:pt x="14170" y="298172"/>
                  </a:lnTo>
                  <a:cubicBezTo>
                    <a:pt x="10412" y="298172"/>
                    <a:pt x="6808" y="296679"/>
                    <a:pt x="4150" y="294022"/>
                  </a:cubicBezTo>
                  <a:cubicBezTo>
                    <a:pt x="1493" y="291364"/>
                    <a:pt x="0" y="287760"/>
                    <a:pt x="0" y="284002"/>
                  </a:cubicBezTo>
                  <a:lnTo>
                    <a:pt x="0" y="14170"/>
                  </a:lnTo>
                  <a:cubicBezTo>
                    <a:pt x="0" y="10412"/>
                    <a:pt x="1493" y="6808"/>
                    <a:pt x="4150" y="4150"/>
                  </a:cubicBezTo>
                  <a:cubicBezTo>
                    <a:pt x="6808" y="1493"/>
                    <a:pt x="10412" y="0"/>
                    <a:pt x="14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302323" cy="355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id="28" name="Text Box 27"/>
          <p:cNvSpPr txBox="1"/>
          <p:nvPr/>
        </p:nvSpPr>
        <p:spPr>
          <a:xfrm>
            <a:off x="1344295" y="647700"/>
            <a:ext cx="28575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vi-VN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4.</a:t>
            </a:r>
            <a:r>
              <a:rPr lang="en-US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 </a:t>
            </a:r>
            <a:r>
              <a:rPr lang="vi-VN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Kết luận</a:t>
            </a:r>
            <a:endParaRPr lang="vi-VN" altLang="en-US" sz="4000" b="1">
              <a:solidFill>
                <a:schemeClr val="tx2">
                  <a:lumMod val="75000"/>
                </a:schemeClr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</p:txBody>
      </p:sp>
      <p:sp>
        <p:nvSpPr>
          <p:cNvPr id="48" name="Text Box 47"/>
          <p:cNvSpPr txBox="1"/>
          <p:nvPr/>
        </p:nvSpPr>
        <p:spPr>
          <a:xfrm>
            <a:off x="1295400" y="1242060"/>
            <a:ext cx="15831820" cy="75704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Ư</a:t>
            </a:r>
            <a:r>
              <a:rPr lang="en-US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u </a:t>
            </a:r>
            <a:r>
              <a:rPr lang="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iểm:</a:t>
            </a:r>
            <a:endParaRPr lang="en-US" altLang="en-US" sz="3600" b="1" i="1" u="sng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Giao diện trực quan, dễ sử dụng, phù hợp với website y tế.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Hỗ trợ ng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ư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ời dùng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ặt lịch khám trực tuyến, tiết kiệm thời gian và công sức.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Cung cấp t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ư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ơng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ối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ầy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ủ thông tin về dịch vụ và hoạt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ộng khám bệnh.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algn="just">
              <a:lnSpc>
                <a:spcPct val="150000"/>
              </a:lnSpc>
            </a:pPr>
            <a:r>
              <a:rPr lang="en-US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Nh</a:t>
            </a:r>
            <a:r>
              <a:rPr lang="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ư</a:t>
            </a:r>
            <a:r>
              <a:rPr lang="en-US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ợc </a:t>
            </a:r>
            <a:r>
              <a:rPr lang="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iểm:</a:t>
            </a:r>
            <a:endParaRPr lang="en-US" altLang="en-US" sz="3600" b="1" i="1" u="sng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Quy mô hệ thống còn nhỏ, chủ yếu phục vụ mục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ích học tập.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Ch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ư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a tích hợp các tính n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ă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ng nâng cao nh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ư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 nhắc lịch hẹn tự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ộng, hồ sơ bệnh án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iện tử.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Chức n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ă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ng hỗ trợ và ch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ă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m sóc khách hàng trực tuyến ch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ư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a hoàn thiện.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</p:sp>
      <p:grpSp>
        <p:nvGrpSpPr>
          <p:cNvPr id="19" name="Group 19"/>
          <p:cNvGrpSpPr/>
          <p:nvPr/>
        </p:nvGrpSpPr>
        <p:grpSpPr>
          <a:xfrm rot="0">
            <a:off x="-107178" y="9258300"/>
            <a:ext cx="8162329" cy="1592157"/>
            <a:chOff x="0" y="0"/>
            <a:chExt cx="2149749" cy="41933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149749" cy="419334"/>
            </a:xfrm>
            <a:custGeom>
              <a:avLst/>
              <a:gdLst/>
              <a:ahLst/>
              <a:cxnLst/>
              <a:rect l="l" t="t" r="r" b="b"/>
              <a:pathLst>
                <a:path w="2149749" h="419334">
                  <a:moveTo>
                    <a:pt x="15176" y="0"/>
                  </a:moveTo>
                  <a:lnTo>
                    <a:pt x="2134573" y="0"/>
                  </a:lnTo>
                  <a:cubicBezTo>
                    <a:pt x="2138598" y="0"/>
                    <a:pt x="2142458" y="1599"/>
                    <a:pt x="2145304" y="4445"/>
                  </a:cubicBezTo>
                  <a:cubicBezTo>
                    <a:pt x="2148150" y="7291"/>
                    <a:pt x="2149749" y="11151"/>
                    <a:pt x="2149749" y="15176"/>
                  </a:cubicBezTo>
                  <a:lnTo>
                    <a:pt x="2149749" y="404158"/>
                  </a:lnTo>
                  <a:cubicBezTo>
                    <a:pt x="2149749" y="408183"/>
                    <a:pt x="2148150" y="412043"/>
                    <a:pt x="2145304" y="414889"/>
                  </a:cubicBezTo>
                  <a:cubicBezTo>
                    <a:pt x="2142458" y="417735"/>
                    <a:pt x="2138598" y="419334"/>
                    <a:pt x="2134573" y="419334"/>
                  </a:cubicBezTo>
                  <a:lnTo>
                    <a:pt x="15176" y="419334"/>
                  </a:lnTo>
                  <a:cubicBezTo>
                    <a:pt x="6794" y="419334"/>
                    <a:pt x="0" y="412539"/>
                    <a:pt x="0" y="404158"/>
                  </a:cubicBezTo>
                  <a:lnTo>
                    <a:pt x="0" y="15176"/>
                  </a:lnTo>
                  <a:cubicBezTo>
                    <a:pt x="0" y="11151"/>
                    <a:pt x="1599" y="7291"/>
                    <a:pt x="4445" y="4445"/>
                  </a:cubicBezTo>
                  <a:cubicBezTo>
                    <a:pt x="7291" y="1599"/>
                    <a:pt x="11151" y="0"/>
                    <a:pt x="1517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1" name="TextBox 21"/>
            <p:cNvSpPr txBox="1"/>
            <p:nvPr/>
          </p:nvSpPr>
          <p:spPr>
            <a:xfrm>
              <a:off x="0" y="-57150"/>
              <a:ext cx="2149749" cy="4764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 rot="0">
            <a:off x="9923912" y="-336043"/>
            <a:ext cx="8741633" cy="1132122"/>
            <a:chOff x="0" y="0"/>
            <a:chExt cx="2302323" cy="2981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302323" cy="298172"/>
            </a:xfrm>
            <a:custGeom>
              <a:avLst/>
              <a:gdLst/>
              <a:ahLst/>
              <a:cxnLst/>
              <a:rect l="l" t="t" r="r" b="b"/>
              <a:pathLst>
                <a:path w="2302323" h="298172">
                  <a:moveTo>
                    <a:pt x="14170" y="0"/>
                  </a:moveTo>
                  <a:lnTo>
                    <a:pt x="2288153" y="0"/>
                  </a:lnTo>
                  <a:cubicBezTo>
                    <a:pt x="2291911" y="0"/>
                    <a:pt x="2295515" y="1493"/>
                    <a:pt x="2298173" y="4150"/>
                  </a:cubicBezTo>
                  <a:cubicBezTo>
                    <a:pt x="2300830" y="6808"/>
                    <a:pt x="2302323" y="10412"/>
                    <a:pt x="2302323" y="14170"/>
                  </a:cubicBezTo>
                  <a:lnTo>
                    <a:pt x="2302323" y="284002"/>
                  </a:lnTo>
                  <a:cubicBezTo>
                    <a:pt x="2302323" y="287760"/>
                    <a:pt x="2300830" y="291364"/>
                    <a:pt x="2298173" y="294022"/>
                  </a:cubicBezTo>
                  <a:cubicBezTo>
                    <a:pt x="2295515" y="296679"/>
                    <a:pt x="2291911" y="298172"/>
                    <a:pt x="2288153" y="298172"/>
                  </a:cubicBezTo>
                  <a:lnTo>
                    <a:pt x="14170" y="298172"/>
                  </a:lnTo>
                  <a:cubicBezTo>
                    <a:pt x="10412" y="298172"/>
                    <a:pt x="6808" y="296679"/>
                    <a:pt x="4150" y="294022"/>
                  </a:cubicBezTo>
                  <a:cubicBezTo>
                    <a:pt x="1493" y="291364"/>
                    <a:pt x="0" y="287760"/>
                    <a:pt x="0" y="284002"/>
                  </a:cubicBezTo>
                  <a:lnTo>
                    <a:pt x="0" y="14170"/>
                  </a:lnTo>
                  <a:cubicBezTo>
                    <a:pt x="0" y="10412"/>
                    <a:pt x="1493" y="6808"/>
                    <a:pt x="4150" y="4150"/>
                  </a:cubicBezTo>
                  <a:cubicBezTo>
                    <a:pt x="6808" y="1493"/>
                    <a:pt x="10412" y="0"/>
                    <a:pt x="1417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302323" cy="3553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id="28" name="Text Box 27"/>
          <p:cNvSpPr txBox="1"/>
          <p:nvPr/>
        </p:nvSpPr>
        <p:spPr>
          <a:xfrm>
            <a:off x="2030095" y="2247900"/>
            <a:ext cx="28575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00000"/>
              </a:lnSpc>
            </a:pPr>
            <a:r>
              <a:rPr lang="vi-VN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4.</a:t>
            </a:r>
            <a:r>
              <a:rPr lang="en-US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 </a:t>
            </a:r>
            <a:r>
              <a:rPr lang="vi-VN" altLang="en-US" sz="4000" b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ea typeface="Garet Bold"/>
                <a:cs typeface="Calibri" panose="020F0502020204030204" charset="0"/>
              </a:rPr>
              <a:t>Kết luận</a:t>
            </a:r>
            <a:endParaRPr lang="vi-VN" altLang="en-US" sz="4000" b="1">
              <a:solidFill>
                <a:schemeClr val="tx2">
                  <a:lumMod val="75000"/>
                </a:schemeClr>
              </a:solidFill>
              <a:latin typeface="Calibri" panose="020F0502020204030204" charset="0"/>
              <a:ea typeface="Garet Bold"/>
              <a:cs typeface="Calibri" panose="020F0502020204030204" charset="0"/>
            </a:endParaRPr>
          </a:p>
        </p:txBody>
      </p:sp>
      <p:sp>
        <p:nvSpPr>
          <p:cNvPr id="48" name="Text Box 47"/>
          <p:cNvSpPr txBox="1"/>
          <p:nvPr/>
        </p:nvSpPr>
        <p:spPr>
          <a:xfrm>
            <a:off x="2030095" y="3435985"/>
            <a:ext cx="1422781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</a:pPr>
            <a:r>
              <a:rPr lang="en-US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H</a:t>
            </a:r>
            <a:r>
              <a:rPr lang="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ư</a:t>
            </a:r>
            <a:r>
              <a:rPr lang="en-US" altLang="en-US" sz="3600" b="1" i="1" u="sng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ớng phát triển:</a:t>
            </a:r>
            <a:endParaRPr lang="en-US" altLang="en-US" sz="3600" b="1" i="1" u="sng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Tiếp tục hoàn thiện website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ể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áp ứng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ầy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ủ các yêu cầu nghiệp vụ.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Mở rộng các chức n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ă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ng: nhắc lịch hẹn tự 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đ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ộng, quản l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ý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 hồ sơ bệnh án.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Tích hợp t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ư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 vấn trực tuyến và nâng cao chất l</a:t>
            </a:r>
            <a:r>
              <a:rPr lang="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ư</a:t>
            </a:r>
            <a:r>
              <a:rPr lang="en-US" altLang="en-US" sz="360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Garet"/>
                <a:cs typeface="Calibri" panose="020F0502020204030204" charset="0"/>
                <a:sym typeface="Garet"/>
              </a:rPr>
              <a:t>ợng hỗ trợ khách hàng.</a:t>
            </a:r>
            <a:endParaRPr lang="en-US" altLang="en-US" sz="3600">
              <a:solidFill>
                <a:schemeClr val="accent1">
                  <a:lumMod val="75000"/>
                </a:schemeClr>
              </a:solidFill>
              <a:latin typeface="Calibri" panose="020F0502020204030204" charset="0"/>
              <a:ea typeface="Garet"/>
              <a:cs typeface="Calibri" panose="020F0502020204030204" charset="0"/>
              <a:sym typeface="Gare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6666" b="-16666"/>
            </a:stretch>
          </a:blipFill>
        </p:spPr>
      </p:sp>
      <p:grpSp>
        <p:nvGrpSpPr>
          <p:cNvPr id="3" name="Group 3"/>
          <p:cNvGrpSpPr/>
          <p:nvPr/>
        </p:nvGrpSpPr>
        <p:grpSpPr>
          <a:xfrm rot="0">
            <a:off x="0" y="-488950"/>
            <a:ext cx="18288000" cy="4107180"/>
            <a:chOff x="0" y="-57195"/>
            <a:chExt cx="5035308" cy="108169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35308" cy="1024495"/>
            </a:xfrm>
            <a:custGeom>
              <a:avLst/>
              <a:gdLst/>
              <a:ahLst/>
              <a:cxnLst/>
              <a:rect l="l" t="t" r="r" b="b"/>
              <a:pathLst>
                <a:path w="5035308" h="1024495">
                  <a:moveTo>
                    <a:pt x="0" y="0"/>
                  </a:moveTo>
                  <a:lnTo>
                    <a:pt x="5035308" y="0"/>
                  </a:lnTo>
                  <a:lnTo>
                    <a:pt x="5035308" y="1024495"/>
                  </a:lnTo>
                  <a:lnTo>
                    <a:pt x="0" y="1024495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0" y="-57195"/>
              <a:ext cx="4957453" cy="1081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id="28" name="Group 28"/>
          <p:cNvGrpSpPr/>
          <p:nvPr/>
        </p:nvGrpSpPr>
        <p:grpSpPr>
          <a:xfrm rot="0">
            <a:off x="0" y="8980170"/>
            <a:ext cx="18288000" cy="1496060"/>
            <a:chOff x="0" y="0"/>
            <a:chExt cx="5039992" cy="39394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039992" cy="393949"/>
            </a:xfrm>
            <a:custGeom>
              <a:avLst/>
              <a:gdLst/>
              <a:ahLst/>
              <a:cxnLst/>
              <a:rect l="l" t="t" r="r" b="b"/>
              <a:pathLst>
                <a:path w="5039992" h="393949">
                  <a:moveTo>
                    <a:pt x="0" y="0"/>
                  </a:moveTo>
                  <a:lnTo>
                    <a:pt x="5039992" y="0"/>
                  </a:lnTo>
                  <a:lnTo>
                    <a:pt x="5039992" y="393949"/>
                  </a:lnTo>
                  <a:lnTo>
                    <a:pt x="0" y="393949"/>
                  </a:ln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0"/>
                  </a:srgbClr>
                </a:gs>
                <a:gs pos="100000">
                  <a:srgbClr val="00306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5039992" cy="4510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id="41" name="TextBox 18"/>
          <p:cNvSpPr txBox="1"/>
          <p:nvPr/>
        </p:nvSpPr>
        <p:spPr>
          <a:xfrm>
            <a:off x="3197225" y="3200711"/>
            <a:ext cx="11861800" cy="307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fontAlgn="ctr">
              <a:lnSpc>
                <a:spcPts val="12000"/>
              </a:lnSpc>
              <a:spcBef>
                <a:spcPct val="0"/>
              </a:spcBef>
            </a:pPr>
            <a:r>
              <a:rPr lang="en-US" altLang="en-US" sz="72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Cảm ơn Thầy Cô và các bạn đã lắng ngh</a:t>
            </a:r>
            <a:r>
              <a:rPr lang="vi-VN" altLang="en-US" sz="720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ea typeface="Sriracha" panose="00000500000000000000"/>
                <a:cs typeface="Arial" panose="020B0604020202020204" pitchFamily="34" charset="0"/>
                <a:sym typeface="Sriracha" panose="00000500000000000000"/>
              </a:rPr>
              <a:t>e!!</a:t>
            </a:r>
            <a:endParaRPr lang="vi-VN" altLang="en-US" sz="720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Sriracha" panose="00000500000000000000"/>
              <a:cs typeface="Arial" panose="020B0604020202020204" pitchFamily="34" charset="0"/>
              <a:sym typeface="Sriracha" panose="0000050000000000000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6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7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8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9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10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11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12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13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14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15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16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17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18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19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20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21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22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23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24.xml><?xml version="1.0" encoding="utf-8"?>
<p:tagLst xmlns:p="http://schemas.openxmlformats.org/presentationml/2006/main">
  <p:tag name="KSO_WM_DIAGRAM_VIRTUALLY_FRAME" val="{&quot;height&quot;:450.76826771653543,&quot;left&quot;:747.8564566929133,&quot;top&quot;:264.0268503937008,&quot;width&quot;:687.3551968503938}"/>
</p:tagLst>
</file>

<file path=ppt/tags/tag25.xml><?xml version="1.0" encoding="utf-8"?>
<p:tagLst xmlns:p="http://schemas.openxmlformats.org/presentationml/2006/main">
  <p:tag name="KSO_WM_DIAGRAM_VIRTUALLY_FRAME" val="{&quot;height&quot;:449.8192125984253,&quot;left&quot;:832.1774803149607,&quot;top&quot;:223.81952755905513,&quot;width&quot;:285.9}"/>
</p:tagLst>
</file>

<file path=ppt/tags/tag26.xml><?xml version="1.0" encoding="utf-8"?>
<p:tagLst xmlns:p="http://schemas.openxmlformats.org/presentationml/2006/main">
  <p:tag name="KSO_WM_DIAGRAM_VIRTUALLY_FRAME" val="{&quot;height&quot;:449.8192125984253,&quot;left&quot;:832.1774803149607,&quot;top&quot;:223.81952755905513,&quot;width&quot;:285.9}"/>
</p:tagLst>
</file>

<file path=ppt/tags/tag27.xml><?xml version="1.0" encoding="utf-8"?>
<p:tagLst xmlns:p="http://schemas.openxmlformats.org/presentationml/2006/main">
  <p:tag name="KSO_WM_DIAGRAM_VIRTUALLY_FRAME" val="{&quot;height&quot;:270.2060799245962,&quot;left&quot;:74.80587952897265,&quot;top&quot;:237.29392007540378,&quot;width&quot;:1262.617033856854}"/>
</p:tagLst>
</file>

<file path=ppt/tags/tag28.xml><?xml version="1.0" encoding="utf-8"?>
<p:tagLst xmlns:p="http://schemas.openxmlformats.org/presentationml/2006/main">
  <p:tag name="KSO_WM_DIAGRAM_VIRTUALLY_FRAME" val="{&quot;height&quot;:270.2060799245962,&quot;left&quot;:74.80587952897265,&quot;top&quot;:237.29392007540378,&quot;width&quot;:1262.617033856854}"/>
</p:tagLst>
</file>

<file path=ppt/tags/tag29.xml><?xml version="1.0" encoding="utf-8"?>
<p:tagLst xmlns:p="http://schemas.openxmlformats.org/presentationml/2006/main">
  <p:tag name="KSO_WM_DIAGRAM_VIRTUALLY_FRAME" val="{&quot;height&quot;:270.2060799245962,&quot;left&quot;:74.80587952897265,&quot;top&quot;:237.29392007540378,&quot;width&quot;:1262.617033856854}"/>
</p:tagLst>
</file>

<file path=ppt/tags/tag30.xml><?xml version="1.0" encoding="utf-8"?>
<p:tagLst xmlns:p="http://schemas.openxmlformats.org/presentationml/2006/main">
  <p:tag name="KSO_WM_DIAGRAM_VIRTUALLY_FRAME" val="{&quot;height&quot;:270.2060799245962,&quot;left&quot;:74.80587952897265,&quot;top&quot;:237.29392007540378,&quot;width&quot;:1262.617033856854}"/>
</p:tagLst>
</file>

<file path=ppt/tags/tag31.xml><?xml version="1.0" encoding="utf-8"?>
<p:tagLst xmlns:p="http://schemas.openxmlformats.org/presentationml/2006/main">
  <p:tag name="KSO_WM_DIAGRAM_VIRTUALLY_FRAME" val="{&quot;height&quot;:270.2060799245962,&quot;left&quot;:74.80587952897265,&quot;top&quot;:237.29392007540378,&quot;width&quot;:1262.617033856854}"/>
</p:tagLst>
</file>

<file path=ppt/tags/tag32.xml><?xml version="1.0" encoding="utf-8"?>
<p:tagLst xmlns:p="http://schemas.openxmlformats.org/presentationml/2006/main">
  <p:tag name="KSO_WM_DIAGRAM_VIRTUALLY_FRAME" val="{&quot;height&quot;:270.2060799245962,&quot;left&quot;:74.80587952897265,&quot;top&quot;:237.29392007540378,&quot;width&quot;:1262.61703385685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2873</Words>
  <Application>WPS Presentation</Application>
  <PresentationFormat>On-screen Show (4:3)</PresentationFormat>
  <Paragraphs>128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SimSun</vt:lpstr>
      <vt:lpstr>Wingdings</vt:lpstr>
      <vt:lpstr>Garet Bold</vt:lpstr>
      <vt:lpstr>Segoe Print</vt:lpstr>
      <vt:lpstr>Garet</vt:lpstr>
      <vt:lpstr>Asap</vt:lpstr>
      <vt:lpstr>Sriracha</vt:lpstr>
      <vt:lpstr>Open Sans</vt:lpstr>
      <vt:lpstr>Microsoft YaHei</vt:lpstr>
      <vt:lpstr>Arial Unicode MS</vt:lpstr>
      <vt:lpstr>Calibri</vt:lpstr>
      <vt:lpstr>Times New Roman</vt:lpstr>
      <vt:lpstr>Mali SemiBold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Business Proposal Presentation</dc:title>
  <dc:creator/>
  <cp:lastModifiedBy>Hương Kim</cp:lastModifiedBy>
  <cp:revision>7</cp:revision>
  <dcterms:created xsi:type="dcterms:W3CDTF">2006-08-16T00:00:00Z</dcterms:created>
  <dcterms:modified xsi:type="dcterms:W3CDTF">2025-12-28T16:41:46Z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B86C35461D2D4569BC6F0CFCA2BD2179_12</vt:lpwstr>
  </property>
  <property fmtid="{D5CDD505-2E9C-101B-9397-08002B2CF9AE}" pid="3" name="KSOProductBuildVer">
    <vt:lpwstr>1033-12.2.0.23196</vt:lpwstr>
  </property>
</Properties>
</file>